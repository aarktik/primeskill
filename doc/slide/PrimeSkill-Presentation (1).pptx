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งาน" id="{2077a4c8-8878-a3ba-efb6-1f6403fa125c}">
          <p14:sldIdLst>
            <p14:sldId id="256"/>
          </p14:sldIdLst>
        </p14:section>
        <p14:section name="Problem and Scope" id="{a69abe8a-cb16-97c8-4dbc-487e5facc5d1}">
          <p14:sldIdLst>
            <p14:sldId id="257"/>
          </p14:sldIdLst>
        </p14:section>
        <p14:section name="Design and Architecture" id="{ba55c97a-ed85-a749-e252-38714e80c85a}">
          <p14:sldIdLst>
            <p14:sldId id="258"/>
            <p14:sldId id="259"/>
            <p14:sldId id="260"/>
            <p14:sldId id="261"/>
          </p14:sldIdLst>
        </p14:section>
        <p14:section name="Live Demo" id="{20d98a3e-0470-84c1-8c0a-cb09a3f10b26}">
          <p14:sldIdLst>
            <p14:sldId id="262"/>
          </p14:sldIdLst>
        </p14:section>
        <p14:section name="Lessons Learned" id="{920739da-8f9c-5e73-b614-06fe3721e76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10-15 วินาที (นับรวมใน 1.5 นาทีของส่วน Problem and Scope): ToolHub/PrimeSkill คือแพลตฟอร์มค้นหา เผยแพร่ และรีวิวเครื่องมือซอฟต์แวร์ แล้วบอกโครงการนำเสนอ 4 ส่วนรวม 9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เวลารวมส่วนนี้ 1.5 นาที (หน้าปก 15 วินาที + หน้านี้ 1 นาที 15 วินาที): พูดปัญหา 3 ข้อ -&gt; ผู้ใช้ 2 กลุ่ม (USER/ADMIN) -&gt; ขอบเขตแบ่งเป็น 5 โมดูลตาม Role A ถึง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50 วินาที. เส้นทางคำขอ: Controller -&gt; Service -&gt; Repository -&gt; PostgreSQL ห้ามข้าม Layer แล้วชี้ว่า Security, DTO/Mapper, Exception handler และ Event ใช้ร่วมกันทุกชั้น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45 วินาที. เล่า 4 Pattern ที่มีในโค้ดจริง เน้น State และ Strategy เพราะจะเห็นต่อในหน้า Class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45 วินาที. อ่านจากซ้ายไปขวา: ด้านซ้ายคือ State Pattern ของวงจรเผยแพร่ ด้านขวาคือ Strategy Pattern ของการเรียงผลลัพธ์ ชี้ว่าเพิ่มสถานะหรือวิธีเรียงใหม่ได้โดยเพิ่มคลาสเดียว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40 วินาที. เน้น 3 จุด: Tool เป็นศูนย์กลาง, Tag เป็นความสัมพันธ์ N:M ผ่าน tool_tags, และ UNIQUE(user_id, tool_id) ของ reviews ที่คุมกฎ 1 คน 1 รีวิว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3.5 นาที. ลำดับเดโม: (1) ค้นหา/กรอง/เรียง 1 นาที (2) วงจรเผยแพร่ USER -&gt; ADMIN 1.5 นาที (3) รีวิวและคะแนน 1 นาที ก่อนขึ้นเวทีให้รัน Application ค้างไว้ เตรียม Seed Data และเปิดแท็บวิดีโอสำรอง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เวลา 1 นาที: เล่า 3 ปัญหาที่เจอจริงและวิธีแก้ เน้นบทเรียนว่าเทสต์บน H2 ไม่จับ concurrency ต้องใช้ PostgreSQL จริง ปิดด้วยสิ่งที่จะทำต่อ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51460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ToolHub / PrimeSkill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5146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แพลตฟอร์มค้นหา เผยแพร่ และรีวิวเครื่องมือซอฟต์แวร์</a:t>
            </a:r>
            <a:endParaRPr lang="en-US" sz="2000" dirty="0"/>
          </a:p>
        </p:txBody>
      </p:sp>
      <p:sp>
        <p:nvSpPr>
          <p:cNvPr id="4" name="Tech line"/>
          <p:cNvSpPr txBox="1"/>
          <p:nvPr/>
        </p:nvSpPr>
        <p:spPr>
          <a:xfrm>
            <a:off x="731520" y="4069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Java 17 · Spring Boot · PostgreSQL (Supabase)</a:t>
            </a:r>
            <a:endParaRPr lang="en-US" sz="1600" dirty="0"/>
          </a:p>
        </p:txBody>
      </p:sp>
      <p:sp>
        <p:nvSpPr>
          <p:cNvPr id="5" name="Team line"/>
          <p:cNvSpPr txBox="1"/>
          <p:nvPr/>
        </p:nvSpPr>
        <p:spPr>
          <a:xfrm>
            <a:off x="731520" y="4526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ทีม 5 คน · Role A ถึง E</a:t>
            </a:r>
            <a:endParaRPr lang="en-US" sz="1600" dirty="0"/>
          </a:p>
        </p:txBody>
      </p:sp>
      <p:sp>
        <p:nvSpPr>
          <p:cNvPr id="6" name="URL pill"/>
          <p:cNvSpPr/>
          <p:nvPr/>
        </p:nvSpPr>
        <p:spPr>
          <a:xfrm>
            <a:off x="731520" y="5349240"/>
            <a:ext cx="4754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URL text"/>
          <p:cNvSpPr txBox="1"/>
          <p:nvPr/>
        </p:nvSpPr>
        <p:spPr>
          <a:xfrm>
            <a:off x="73152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primeskill-zeta.vercel.app</a:t>
            </a:r>
            <a:endParaRPr lang="en-US" sz="1800" dirty="0"/>
          </a:p>
        </p:txBody>
      </p:sp>
      <p:sp>
        <p:nvSpPr>
          <p:cNvPr id="8" name="Agenda card 1"/>
          <p:cNvSpPr/>
          <p:nvPr/>
        </p:nvSpPr>
        <p:spPr>
          <a:xfrm>
            <a:off x="7315200" y="1325880"/>
            <a:ext cx="41605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9" name="Agenda time 1"/>
          <p:cNvSpPr txBox="1"/>
          <p:nvPr/>
        </p:nvSpPr>
        <p:spPr>
          <a:xfrm>
            <a:off x="7543800" y="1417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1.5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นาที</a:t>
            </a:r>
            <a:endParaRPr lang="en-US" sz="1400" dirty="0"/>
          </a:p>
        </p:txBody>
      </p:sp>
      <p:sp>
        <p:nvSpPr>
          <p:cNvPr id="10" name="Agenda label 1"/>
          <p:cNvSpPr txBox="1"/>
          <p:nvPr/>
        </p:nvSpPr>
        <p:spPr>
          <a:xfrm>
            <a:off x="8686800" y="1325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Problem and Scope</a:t>
            </a:r>
            <a:endParaRPr lang="en-US" sz="1800" dirty="0"/>
          </a:p>
        </p:txBody>
      </p:sp>
      <p:sp>
        <p:nvSpPr>
          <p:cNvPr id="11" name="Agenda card 2"/>
          <p:cNvSpPr/>
          <p:nvPr/>
        </p:nvSpPr>
        <p:spPr>
          <a:xfrm>
            <a:off x="7315200" y="2514600"/>
            <a:ext cx="41605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2" name="Agenda time 2"/>
          <p:cNvSpPr txBox="1"/>
          <p:nvPr/>
        </p:nvSpPr>
        <p:spPr>
          <a:xfrm>
            <a:off x="7543800" y="26060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นาที</a:t>
            </a:r>
            <a:endParaRPr lang="en-US" sz="1400" dirty="0"/>
          </a:p>
        </p:txBody>
      </p:sp>
      <p:sp>
        <p:nvSpPr>
          <p:cNvPr id="13" name="Agenda label 2"/>
          <p:cNvSpPr txBox="1"/>
          <p:nvPr/>
        </p:nvSpPr>
        <p:spPr>
          <a:xfrm>
            <a:off x="8686800" y="2514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Design and Architecture</a:t>
            </a:r>
            <a:endParaRPr lang="en-US" sz="1800" dirty="0"/>
          </a:p>
        </p:txBody>
      </p:sp>
      <p:sp>
        <p:nvSpPr>
          <p:cNvPr id="14" name="Agenda card 3"/>
          <p:cNvSpPr/>
          <p:nvPr/>
        </p:nvSpPr>
        <p:spPr>
          <a:xfrm>
            <a:off x="7315200" y="3703320"/>
            <a:ext cx="41605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5" name="Agenda time 3"/>
          <p:cNvSpPr txBox="1"/>
          <p:nvPr/>
        </p:nvSpPr>
        <p:spPr>
          <a:xfrm>
            <a:off x="7543800" y="37947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3.5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นาที</a:t>
            </a:r>
            <a:endParaRPr lang="en-US" sz="1400" dirty="0"/>
          </a:p>
        </p:txBody>
      </p:sp>
      <p:sp>
        <p:nvSpPr>
          <p:cNvPr id="16" name="Agenda label 3"/>
          <p:cNvSpPr txBox="1"/>
          <p:nvPr/>
        </p:nvSpPr>
        <p:spPr>
          <a:xfrm>
            <a:off x="8686800" y="3703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Demo</a:t>
            </a:r>
            <a:endParaRPr lang="en-US" sz="1800" dirty="0"/>
          </a:p>
        </p:txBody>
      </p:sp>
      <p:sp>
        <p:nvSpPr>
          <p:cNvPr id="17" name="Agenda card 4"/>
          <p:cNvSpPr/>
          <p:nvPr/>
        </p:nvSpPr>
        <p:spPr>
          <a:xfrm>
            <a:off x="7315200" y="4892040"/>
            <a:ext cx="41605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8" name="Agenda time 4"/>
          <p:cNvSpPr txBox="1"/>
          <p:nvPr/>
        </p:nvSpPr>
        <p:spPr>
          <a:xfrm>
            <a:off x="7543800" y="49834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นาที</a:t>
            </a:r>
            <a:endParaRPr lang="en-US" sz="1400" dirty="0"/>
          </a:p>
        </p:txBody>
      </p:sp>
      <p:sp>
        <p:nvSpPr>
          <p:cNvPr id="19" name="Agenda label 4"/>
          <p:cNvSpPr txBox="1"/>
          <p:nvPr/>
        </p:nvSpPr>
        <p:spPr>
          <a:xfrm>
            <a:off x="8686800" y="4892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Lessons Learned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ปัญหาและขอบเขตระบบ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640080" y="1463040"/>
            <a:ext cx="51206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Problem heading"/>
          <p:cNvSpPr txBox="1"/>
          <p:nvPr/>
        </p:nvSpPr>
        <p:spPr>
          <a:xfrm>
            <a:off x="86868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ปัญหาที่ต้องการแก้</a:t>
            </a:r>
            <a:endParaRPr lang="en-US" sz="2000" dirty="0"/>
          </a:p>
        </p:txBody>
      </p:sp>
      <p:sp>
        <p:nvSpPr>
          <p:cNvPr id="5" name="Problem bullets"/>
          <p:cNvSpPr txBox="1"/>
          <p:nvPr/>
        </p:nvSpPr>
        <p:spPr>
          <a:xfrm>
            <a:off x="868680" y="21945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เครื่องมือกระจัดกระจาย หาตัวที่เหมาะกับงานได้ยาก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ขาดคะแนนและรีวิวที่ช่วยตัดสินใจ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เจ้าของเครื่องมือขาดขั้นตอนเผยแพร่ที่ตรวจสอบได้</a:t>
            </a:r>
            <a:endParaRPr lang="en-US" sz="1800" dirty="0"/>
          </a:p>
        </p:txBody>
      </p:sp>
      <p:sp>
        <p:nvSpPr>
          <p:cNvPr id="6" name="USER card"/>
          <p:cNvSpPr/>
          <p:nvPr/>
        </p:nvSpPr>
        <p:spPr>
          <a:xfrm>
            <a:off x="640080" y="46177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USER chip"/>
          <p:cNvSpPr/>
          <p:nvPr/>
        </p:nvSpPr>
        <p:spPr>
          <a:xfrm>
            <a:off x="822960" y="4773168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USER chip text"/>
          <p:cNvSpPr txBox="1"/>
          <p:nvPr/>
        </p:nvSpPr>
        <p:spPr>
          <a:xfrm>
            <a:off x="82296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</a:t>
            </a:r>
            <a:endParaRPr lang="en-US" sz="1400" dirty="0"/>
          </a:p>
        </p:txBody>
      </p:sp>
      <p:sp>
        <p:nvSpPr>
          <p:cNvPr id="9" name="USER desc"/>
          <p:cNvSpPr txBox="1"/>
          <p:nvPr/>
        </p:nvSpPr>
        <p:spPr>
          <a:xfrm>
            <a:off x="82296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ค้นหา สร้างเครื่องมือ เขียนรีวิว</a:t>
            </a:r>
            <a:endParaRPr lang="en-US" sz="1400" dirty="0"/>
          </a:p>
        </p:txBody>
      </p:sp>
      <p:sp>
        <p:nvSpPr>
          <p:cNvPr id="10" name="ADMIN card"/>
          <p:cNvSpPr/>
          <p:nvPr/>
        </p:nvSpPr>
        <p:spPr>
          <a:xfrm>
            <a:off x="3291840" y="46177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ADMIN chip"/>
          <p:cNvSpPr/>
          <p:nvPr/>
        </p:nvSpPr>
        <p:spPr>
          <a:xfrm>
            <a:off x="3474720" y="4773168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ADMIN chip text"/>
          <p:cNvSpPr txBox="1"/>
          <p:nvPr/>
        </p:nvSpPr>
        <p:spPr>
          <a:xfrm>
            <a:off x="347472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</a:t>
            </a:r>
            <a:endParaRPr lang="en-US" sz="1400" dirty="0"/>
          </a:p>
        </p:txBody>
      </p:sp>
      <p:sp>
        <p:nvSpPr>
          <p:cNvPr id="13" name="ADMIN desc"/>
          <p:cNvSpPr txBox="1"/>
          <p:nvPr/>
        </p:nvSpPr>
        <p:spPr>
          <a:xfrm>
            <a:off x="347472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อนุมัติเครื่องมือ จัดการหมวดหมู่และแท็ก</a:t>
            </a:r>
            <a:endParaRPr lang="en-US" sz="1400" dirty="0"/>
          </a:p>
        </p:txBody>
      </p:sp>
      <p:sp>
        <p:nvSpPr>
          <p:cNvPr id="14" name="Scope heading"/>
          <p:cNvSpPr txBox="1"/>
          <p:nvPr/>
        </p:nvSpPr>
        <p:spPr>
          <a:xfrm>
            <a:off x="617220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ขอบเขต 5 โมดูล</a:t>
            </a:r>
            <a:endParaRPr lang="en-US" sz="2000" dirty="0"/>
          </a:p>
        </p:txBody>
      </p:sp>
      <p:sp>
        <p:nvSpPr>
          <p:cNvPr id="15" name="Module card A"/>
          <p:cNvSpPr/>
          <p:nvPr/>
        </p:nvSpPr>
        <p:spPr>
          <a:xfrm>
            <a:off x="6172200" y="1965960"/>
            <a:ext cx="5376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Module A circle"/>
          <p:cNvSpPr/>
          <p:nvPr/>
        </p:nvSpPr>
        <p:spPr>
          <a:xfrm>
            <a:off x="6309360" y="207568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Module A label"/>
          <p:cNvSpPr txBox="1"/>
          <p:nvPr/>
        </p:nvSpPr>
        <p:spPr>
          <a:xfrm>
            <a:off x="630936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8" name="Module text A"/>
          <p:cNvSpPr txBox="1"/>
          <p:nvPr/>
        </p:nvSpPr>
        <p:spPr>
          <a:xfrm>
            <a:off x="6995160" y="203911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บัญชีผู้ใช้และสิทธิ์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Login, Profile, Session, CSRF</a:t>
            </a:r>
            <a:endParaRPr lang="en-US" sz="1400" dirty="0"/>
          </a:p>
        </p:txBody>
      </p:sp>
      <p:sp>
        <p:nvSpPr>
          <p:cNvPr id="19" name="Module card B"/>
          <p:cNvSpPr/>
          <p:nvPr/>
        </p:nvSpPr>
        <p:spPr>
          <a:xfrm>
            <a:off x="6172200" y="2788920"/>
            <a:ext cx="5376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0" name="Module B circle"/>
          <p:cNvSpPr/>
          <p:nvPr/>
        </p:nvSpPr>
        <p:spPr>
          <a:xfrm>
            <a:off x="6309360" y="28986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Module B label"/>
          <p:cNvSpPr txBox="1"/>
          <p:nvPr/>
        </p:nvSpPr>
        <p:spPr>
          <a:xfrm>
            <a:off x="6309360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2" name="Module text B"/>
          <p:cNvSpPr txBox="1"/>
          <p:nvPr/>
        </p:nvSpPr>
        <p:spPr>
          <a:xfrm>
            <a:off x="6995160" y="28620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เครื่องมือ (Tool)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สร้าง ดู แก้ไข ลบ และตรวจ Validation</a:t>
            </a:r>
            <a:endParaRPr lang="en-US" sz="1400" dirty="0"/>
          </a:p>
        </p:txBody>
      </p:sp>
      <p:sp>
        <p:nvSpPr>
          <p:cNvPr id="23" name="Module card C"/>
          <p:cNvSpPr/>
          <p:nvPr/>
        </p:nvSpPr>
        <p:spPr>
          <a:xfrm>
            <a:off x="6172200" y="3611880"/>
            <a:ext cx="5376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4" name="Module C circle"/>
          <p:cNvSpPr/>
          <p:nvPr/>
        </p:nvSpPr>
        <p:spPr>
          <a:xfrm>
            <a:off x="6309360" y="372160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Module C label"/>
          <p:cNvSpPr txBox="1"/>
          <p:nvPr/>
        </p:nvSpPr>
        <p:spPr>
          <a:xfrm>
            <a:off x="630936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6" name="Module text C"/>
          <p:cNvSpPr txBox="1"/>
          <p:nvPr/>
        </p:nvSpPr>
        <p:spPr>
          <a:xfrm>
            <a:off x="6995160" y="36850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ค้นหาและแท็ก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Browse, Filter, Sort, Pagination, Tag</a:t>
            </a:r>
            <a:endParaRPr lang="en-US" sz="1400" dirty="0"/>
          </a:p>
        </p:txBody>
      </p:sp>
      <p:sp>
        <p:nvSpPr>
          <p:cNvPr id="27" name="Module card D"/>
          <p:cNvSpPr/>
          <p:nvPr/>
        </p:nvSpPr>
        <p:spPr>
          <a:xfrm>
            <a:off x="6172200" y="4434840"/>
            <a:ext cx="5376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8" name="Module D circle"/>
          <p:cNvSpPr/>
          <p:nvPr/>
        </p:nvSpPr>
        <p:spPr>
          <a:xfrm>
            <a:off x="6309360" y="454456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Module D label"/>
          <p:cNvSpPr txBox="1"/>
          <p:nvPr/>
        </p:nvSpPr>
        <p:spPr>
          <a:xfrm>
            <a:off x="6309360" y="4544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30" name="Module text D"/>
          <p:cNvSpPr txBox="1"/>
          <p:nvPr/>
        </p:nvSpPr>
        <p:spPr>
          <a:xfrm>
            <a:off x="6995160" y="450799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รีวิวและคะแนน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คะแนน 1-5, รีวิวของฉัน, คะแนนเฉลี่ย</a:t>
            </a:r>
            <a:endParaRPr lang="en-US" sz="1400" dirty="0"/>
          </a:p>
        </p:txBody>
      </p:sp>
      <p:sp>
        <p:nvSpPr>
          <p:cNvPr id="31" name="Module card E"/>
          <p:cNvSpPr/>
          <p:nvPr/>
        </p:nvSpPr>
        <p:spPr>
          <a:xfrm>
            <a:off x="6172200" y="5257800"/>
            <a:ext cx="5376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2" name="Module E circle"/>
          <p:cNvSpPr/>
          <p:nvPr/>
        </p:nvSpPr>
        <p:spPr>
          <a:xfrm>
            <a:off x="6309360" y="536752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Module E label"/>
          <p:cNvSpPr txBox="1"/>
          <p:nvPr/>
        </p:nvSpPr>
        <p:spPr>
          <a:xfrm>
            <a:off x="630936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34" name="Module text E"/>
          <p:cNvSpPr txBox="1"/>
          <p:nvPr/>
        </p:nvSpPr>
        <p:spPr>
          <a:xfrm>
            <a:off x="6995160" y="533095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เผยแพร่และ Deploy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เวอร์ชัน, Admin moderation, CI, Docker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Layered Architecture และ SOLID</a:t>
            </a:r>
            <a:endParaRPr lang="en-US" sz="3600" dirty="0"/>
          </a:p>
        </p:txBody>
      </p:sp>
      <p:sp>
        <p:nvSpPr>
          <p:cNvPr id="3" name="Layer card 1"/>
          <p:cNvSpPr/>
          <p:nvPr/>
        </p:nvSpPr>
        <p:spPr>
          <a:xfrm>
            <a:off x="640080" y="1417320"/>
            <a:ext cx="7315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Layer chip 1"/>
          <p:cNvSpPr/>
          <p:nvPr/>
        </p:nvSpPr>
        <p:spPr>
          <a:xfrm>
            <a:off x="640080" y="141732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5" name="Layer chip text 1"/>
          <p:cNvSpPr txBox="1"/>
          <p:nvPr/>
        </p:nvSpPr>
        <p:spPr>
          <a:xfrm>
            <a:off x="64008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6" name="Layer desc 1"/>
          <p:cNvSpPr txBox="1"/>
          <p:nvPr/>
        </p:nvSpPr>
        <p:spPr>
          <a:xfrm>
            <a:off x="3017520" y="1417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controller/web (Thymeleaf) และ controller/api (REST /api/v1)</a:t>
            </a:r>
            <a:endParaRPr lang="en-US" sz="1400" dirty="0"/>
          </a:p>
        </p:txBody>
      </p:sp>
      <p:sp>
        <p:nvSpPr>
          <p:cNvPr id="7" name="Layer arrow 1"/>
          <p:cNvSpPr/>
          <p:nvPr/>
        </p:nvSpPr>
        <p:spPr>
          <a:xfrm>
            <a:off x="1737360" y="22402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Layer card 2"/>
          <p:cNvSpPr/>
          <p:nvPr/>
        </p:nvSpPr>
        <p:spPr>
          <a:xfrm>
            <a:off x="640080" y="2377440"/>
            <a:ext cx="7315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Layer chip 2"/>
          <p:cNvSpPr/>
          <p:nvPr/>
        </p:nvSpPr>
        <p:spPr>
          <a:xfrm>
            <a:off x="640080" y="237744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/>
        </p:spPr>
      </p:sp>
      <p:sp>
        <p:nvSpPr>
          <p:cNvPr id="10" name="Layer chip text 2"/>
          <p:cNvSpPr txBox="1"/>
          <p:nvPr/>
        </p:nvSpPr>
        <p:spPr>
          <a:xfrm>
            <a:off x="64008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Service</a:t>
            </a:r>
            <a:endParaRPr lang="en-US" sz="1400" dirty="0"/>
          </a:p>
        </p:txBody>
      </p:sp>
      <p:sp>
        <p:nvSpPr>
          <p:cNvPr id="11" name="Layer desc 2"/>
          <p:cNvSpPr txBox="1"/>
          <p:nvPr/>
        </p:nvSpPr>
        <p:spPr>
          <a:xfrm>
            <a:off x="301752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interface + impl, PublishingStateMachine, ToolSortStrategy</a:t>
            </a:r>
            <a:endParaRPr lang="en-US" sz="1400" dirty="0"/>
          </a:p>
        </p:txBody>
      </p:sp>
      <p:sp>
        <p:nvSpPr>
          <p:cNvPr id="12" name="Layer arrow 2"/>
          <p:cNvSpPr/>
          <p:nvPr/>
        </p:nvSpPr>
        <p:spPr>
          <a:xfrm>
            <a:off x="1737360" y="320040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Layer card 3"/>
          <p:cNvSpPr/>
          <p:nvPr/>
        </p:nvSpPr>
        <p:spPr>
          <a:xfrm>
            <a:off x="640080" y="3337560"/>
            <a:ext cx="7315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Layer chip 3"/>
          <p:cNvSpPr/>
          <p:nvPr/>
        </p:nvSpPr>
        <p:spPr>
          <a:xfrm>
            <a:off x="640080" y="333756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/>
        </p:spPr>
      </p:sp>
      <p:sp>
        <p:nvSpPr>
          <p:cNvPr id="15" name="Layer chip text 3"/>
          <p:cNvSpPr txBox="1"/>
          <p:nvPr/>
        </p:nvSpPr>
        <p:spPr>
          <a:xfrm>
            <a:off x="64008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Persistence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Repository / Entity</a:t>
            </a:r>
            <a:endParaRPr lang="en-US" sz="1400" dirty="0"/>
          </a:p>
        </p:txBody>
      </p:sp>
      <p:sp>
        <p:nvSpPr>
          <p:cNvPr id="16" name="Layer desc 3"/>
          <p:cNvSpPr txBox="1"/>
          <p:nvPr/>
        </p:nvSpPr>
        <p:spPr>
          <a:xfrm>
            <a:off x="3017520" y="3337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Spring Data JPA, Hibernate ตรวจ schema.sql (validate)</a:t>
            </a:r>
            <a:endParaRPr lang="en-US" sz="1400" dirty="0"/>
          </a:p>
        </p:txBody>
      </p:sp>
      <p:sp>
        <p:nvSpPr>
          <p:cNvPr id="17" name="Layer arrow 3"/>
          <p:cNvSpPr/>
          <p:nvPr/>
        </p:nvSpPr>
        <p:spPr>
          <a:xfrm>
            <a:off x="1737360" y="416052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Layer card 4"/>
          <p:cNvSpPr/>
          <p:nvPr/>
        </p:nvSpPr>
        <p:spPr>
          <a:xfrm>
            <a:off x="640080" y="4297680"/>
            <a:ext cx="7315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9" name="Layer chip 4"/>
          <p:cNvSpPr/>
          <p:nvPr/>
        </p:nvSpPr>
        <p:spPr>
          <a:xfrm>
            <a:off x="640080" y="4297680"/>
            <a:ext cx="2194560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20" name="Layer chip text 4"/>
          <p:cNvSpPr txBox="1"/>
          <p:nvPr/>
        </p:nvSpPr>
        <p:spPr>
          <a:xfrm>
            <a:off x="640080" y="4297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1" name="Layer desc 4"/>
          <p:cNvSpPr txBox="1"/>
          <p:nvPr/>
        </p:nvSpPr>
        <p:spPr>
          <a:xfrm>
            <a:off x="3017520" y="4297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Supabase, สคริปต์ migration V7 และ V8</a:t>
            </a:r>
            <a:endParaRPr lang="en-US" sz="1400" dirty="0"/>
          </a:p>
        </p:txBody>
      </p:sp>
      <p:sp>
        <p:nvSpPr>
          <p:cNvPr id="22" name="Cross-cutting card"/>
          <p:cNvSpPr/>
          <p:nvPr/>
        </p:nvSpPr>
        <p:spPr>
          <a:xfrm>
            <a:off x="8229600" y="1417320"/>
            <a:ext cx="3319272" cy="3703320"/>
          </a:xfrm>
          <a:prstGeom prst="roundRect">
            <a:avLst>
              <a:gd name="adj" fmla="val 2204"/>
            </a:avLst>
          </a:prstGeom>
          <a:solidFill>
            <a:schemeClr val="tx2"/>
          </a:solidFill>
          <a:ln/>
        </p:spPr>
      </p:sp>
      <p:sp>
        <p:nvSpPr>
          <p:cNvPr id="23" name="Cross-cutting heading"/>
          <p:cNvSpPr txBox="1"/>
          <p:nvPr/>
        </p:nvSpPr>
        <p:spPr>
          <a:xfrm>
            <a:off x="84582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ส่วนที่ใช้ร่วมทุก Layer</a:t>
            </a:r>
            <a:endParaRPr lang="en-US" sz="1800" dirty="0"/>
          </a:p>
        </p:txBody>
      </p:sp>
      <p:sp>
        <p:nvSpPr>
          <p:cNvPr id="24" name="Cross-cutting list"/>
          <p:cNvSpPr txBox="1"/>
          <p:nvPr/>
        </p:nvSpPr>
        <p:spPr>
          <a:xfrm>
            <a:off x="8458200" y="19659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Security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Session + CSRF, สิทธิ์ USER/ADMIN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DTO + Mapper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แยก Entity ออกจาก API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GlobalExceptionHandler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รูปแบบ error เดียวกันทั้งระบบ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Domain Event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ReviewCreatedEvent สำหรับ audit</a:t>
            </a:r>
            <a:endParaRPr lang="en-US" sz="1400" dirty="0"/>
          </a:p>
        </p:txBody>
      </p:sp>
      <p:sp>
        <p:nvSpPr>
          <p:cNvPr id="25" name="SOLID card S"/>
          <p:cNvSpPr/>
          <p:nvPr/>
        </p:nvSpPr>
        <p:spPr>
          <a:xfrm>
            <a:off x="640080" y="5349240"/>
            <a:ext cx="263347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26" name="SOLID letter S"/>
          <p:cNvSpPr txBox="1"/>
          <p:nvPr/>
        </p:nvSpPr>
        <p:spPr>
          <a:xfrm>
            <a:off x="777240" y="5349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S</a:t>
            </a:r>
            <a:endParaRPr lang="en-US" sz="3000" dirty="0"/>
          </a:p>
        </p:txBody>
      </p:sp>
      <p:sp>
        <p:nvSpPr>
          <p:cNvPr id="27" name="SOLID text S"/>
          <p:cNvSpPr txBox="1"/>
          <p:nvPr/>
        </p:nvSpPr>
        <p:spPr>
          <a:xfrm>
            <a:off x="1325880" y="5349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แยกหน้าที่ตาม Layer</a:t>
            </a:r>
            <a:endParaRPr lang="en-US" sz="1400" dirty="0"/>
          </a:p>
        </p:txBody>
      </p:sp>
      <p:sp>
        <p:nvSpPr>
          <p:cNvPr id="28" name="SOLID card O"/>
          <p:cNvSpPr/>
          <p:nvPr/>
        </p:nvSpPr>
        <p:spPr>
          <a:xfrm>
            <a:off x="3407969" y="5349240"/>
            <a:ext cx="263347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29" name="SOLID letter O"/>
          <p:cNvSpPr txBox="1"/>
          <p:nvPr/>
        </p:nvSpPr>
        <p:spPr>
          <a:xfrm>
            <a:off x="3545129" y="5349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O</a:t>
            </a:r>
            <a:endParaRPr lang="en-US" sz="3000" dirty="0"/>
          </a:p>
        </p:txBody>
      </p:sp>
      <p:sp>
        <p:nvSpPr>
          <p:cNvPr id="30" name="SOLID text O"/>
          <p:cNvSpPr txBox="1"/>
          <p:nvPr/>
        </p:nvSpPr>
        <p:spPr>
          <a:xfrm>
            <a:off x="4093769" y="5349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เพิ่ม Strategy ใหม่โดยไม่แก้โค้ดเดิม</a:t>
            </a:r>
            <a:endParaRPr lang="en-US" sz="1400" dirty="0"/>
          </a:p>
        </p:txBody>
      </p:sp>
      <p:sp>
        <p:nvSpPr>
          <p:cNvPr id="31" name="SOLID card I"/>
          <p:cNvSpPr/>
          <p:nvPr/>
        </p:nvSpPr>
        <p:spPr>
          <a:xfrm>
            <a:off x="6175858" y="5349240"/>
            <a:ext cx="263347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32" name="SOLID letter I"/>
          <p:cNvSpPr txBox="1"/>
          <p:nvPr/>
        </p:nvSpPr>
        <p:spPr>
          <a:xfrm>
            <a:off x="6313018" y="5349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I</a:t>
            </a:r>
            <a:endParaRPr lang="en-US" sz="3000" dirty="0"/>
          </a:p>
        </p:txBody>
      </p:sp>
      <p:sp>
        <p:nvSpPr>
          <p:cNvPr id="33" name="SOLID text I"/>
          <p:cNvSpPr txBox="1"/>
          <p:nvPr/>
        </p:nvSpPr>
        <p:spPr>
          <a:xfrm>
            <a:off x="6861658" y="5349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interface เล็ก เช่น PublishingState</a:t>
            </a:r>
            <a:endParaRPr lang="en-US" sz="1400" dirty="0"/>
          </a:p>
        </p:txBody>
      </p:sp>
      <p:sp>
        <p:nvSpPr>
          <p:cNvPr id="34" name="SOLID card D"/>
          <p:cNvSpPr/>
          <p:nvPr/>
        </p:nvSpPr>
        <p:spPr>
          <a:xfrm>
            <a:off x="8943746" y="5349240"/>
            <a:ext cx="2633472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</p:sp>
      <p:sp>
        <p:nvSpPr>
          <p:cNvPr id="35" name="SOLID letter D"/>
          <p:cNvSpPr txBox="1"/>
          <p:nvPr/>
        </p:nvSpPr>
        <p:spPr>
          <a:xfrm>
            <a:off x="9080906" y="53492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D</a:t>
            </a:r>
            <a:endParaRPr lang="en-US" sz="3000" dirty="0"/>
          </a:p>
        </p:txBody>
      </p:sp>
      <p:sp>
        <p:nvSpPr>
          <p:cNvPr id="36" name="SOLID text D"/>
          <p:cNvSpPr txBox="1"/>
          <p:nvPr/>
        </p:nvSpPr>
        <p:spPr>
          <a:xfrm>
            <a:off x="9629546" y="53492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Service พึ่ง interface ผ่าน 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Design Patterns</a:t>
            </a:r>
            <a:endParaRPr lang="en-US" sz="3600" dirty="0"/>
          </a:p>
        </p:txBody>
      </p:sp>
      <p:sp>
        <p:nvSpPr>
          <p:cNvPr id="3" name="Pattern card 1"/>
          <p:cNvSpPr/>
          <p:nvPr/>
        </p:nvSpPr>
        <p:spPr>
          <a:xfrm>
            <a:off x="640080" y="1417320"/>
            <a:ext cx="53583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Pattern 1 circle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attern 1 label"/>
          <p:cNvSpPr txBox="1"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ttern name 1"/>
          <p:cNvSpPr txBox="1"/>
          <p:nvPr/>
        </p:nvSpPr>
        <p:spPr>
          <a:xfrm>
            <a:off x="150876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State</a:t>
            </a:r>
            <a:endParaRPr lang="en-US" sz="2000" dirty="0"/>
          </a:p>
        </p:txBody>
      </p:sp>
      <p:sp>
        <p:nvSpPr>
          <p:cNvPr id="7" name="Pattern class 1"/>
          <p:cNvSpPr txBox="1"/>
          <p:nvPr/>
        </p:nvSpPr>
        <p:spPr>
          <a:xfrm>
            <a:off x="91440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PublishingStateMachine</a:t>
            </a:r>
            <a:endParaRPr lang="en-US" sz="1600" dirty="0"/>
          </a:p>
        </p:txBody>
      </p:sp>
      <p:sp>
        <p:nvSpPr>
          <p:cNvPr id="8" name="Pattern desc 1"/>
          <p:cNvSpPr txBox="1"/>
          <p:nvPr/>
        </p:nvSpPr>
        <p:spPr>
          <a:xfrm>
            <a:off x="914400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แต่ละสถานะ (Draft, Pending, Published, Deprecated) กำหนดการเปลี่ยนสถานะของตัวเอง</a:t>
            </a:r>
            <a:endParaRPr lang="en-US" sz="1500" dirty="0"/>
          </a:p>
        </p:txBody>
      </p:sp>
      <p:sp>
        <p:nvSpPr>
          <p:cNvPr id="9" name="Pattern card 2"/>
          <p:cNvSpPr/>
          <p:nvPr/>
        </p:nvSpPr>
        <p:spPr>
          <a:xfrm>
            <a:off x="6190488" y="1417320"/>
            <a:ext cx="53583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Pattern 2 circle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Pattern 2 label"/>
          <p:cNvSpPr txBox="1"/>
          <p:nvPr/>
        </p:nvSpPr>
        <p:spPr>
          <a:xfrm>
            <a:off x="641908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Pattern name 2"/>
          <p:cNvSpPr txBox="1"/>
          <p:nvPr/>
        </p:nvSpPr>
        <p:spPr>
          <a:xfrm>
            <a:off x="7059168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Strategy</a:t>
            </a:r>
            <a:endParaRPr lang="en-US" sz="2000" dirty="0"/>
          </a:p>
        </p:txBody>
      </p:sp>
      <p:sp>
        <p:nvSpPr>
          <p:cNvPr id="13" name="Pattern class 2"/>
          <p:cNvSpPr txBox="1"/>
          <p:nvPr/>
        </p:nvSpPr>
        <p:spPr>
          <a:xfrm>
            <a:off x="6464808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ToolSortStrategy</a:t>
            </a:r>
            <a:endParaRPr lang="en-US" sz="1600" dirty="0"/>
          </a:p>
        </p:txBody>
      </p:sp>
      <p:sp>
        <p:nvSpPr>
          <p:cNvPr id="14" name="Pattern desc 2"/>
          <p:cNvSpPr txBox="1"/>
          <p:nvPr/>
        </p:nvSpPr>
        <p:spPr>
          <a:xfrm>
            <a:off x="6464808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เรียงตาม newest, popular, rating, relevance แยกเป็นคลาส ไม่ต้องใช้ if-else ยาว</a:t>
            </a:r>
            <a:endParaRPr lang="en-US" sz="1500" dirty="0"/>
          </a:p>
        </p:txBody>
      </p:sp>
      <p:sp>
        <p:nvSpPr>
          <p:cNvPr id="15" name="Pattern card 3"/>
          <p:cNvSpPr/>
          <p:nvPr/>
        </p:nvSpPr>
        <p:spPr>
          <a:xfrm>
            <a:off x="640080" y="3794760"/>
            <a:ext cx="53583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6" name="Pattern 3 circle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Pattern 3 label"/>
          <p:cNvSpPr txBox="1"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Pattern name 3"/>
          <p:cNvSpPr txBox="1"/>
          <p:nvPr/>
        </p:nvSpPr>
        <p:spPr>
          <a:xfrm>
            <a:off x="150876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Observer (Domain Event)</a:t>
            </a:r>
            <a:endParaRPr lang="en-US" sz="2000" dirty="0"/>
          </a:p>
        </p:txBody>
      </p:sp>
      <p:sp>
        <p:nvSpPr>
          <p:cNvPr id="19" name="Pattern class 3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ReviewAuditListener</a:t>
            </a:r>
            <a:endParaRPr lang="en-US" sz="1600" dirty="0"/>
          </a:p>
        </p:txBody>
      </p:sp>
      <p:sp>
        <p:nvSpPr>
          <p:cNvPr id="20" name="Pattern desc 3"/>
          <p:cNvSpPr txBox="1"/>
          <p:nvPr/>
        </p:nvSpPr>
        <p:spPr>
          <a:xfrm>
            <a:off x="914400" y="5166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บันทึก audit หลัง commit (AFTER_COMMIT) โดยไม่กระทบธุรกรรมรีวิว</a:t>
            </a:r>
            <a:endParaRPr lang="en-US" sz="1500" dirty="0"/>
          </a:p>
        </p:txBody>
      </p:sp>
      <p:sp>
        <p:nvSpPr>
          <p:cNvPr id="21" name="Pattern card 4"/>
          <p:cNvSpPr/>
          <p:nvPr/>
        </p:nvSpPr>
        <p:spPr>
          <a:xfrm>
            <a:off x="6190488" y="3794760"/>
            <a:ext cx="5358384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2" name="Pattern 4 circle"/>
          <p:cNvSpPr/>
          <p:nvPr/>
        </p:nvSpPr>
        <p:spPr>
          <a:xfrm>
            <a:off x="6419088" y="40233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Pattern 4 label"/>
          <p:cNvSpPr txBox="1"/>
          <p:nvPr/>
        </p:nvSpPr>
        <p:spPr>
          <a:xfrm>
            <a:off x="641908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Pattern name 4"/>
          <p:cNvSpPr txBox="1"/>
          <p:nvPr/>
        </p:nvSpPr>
        <p:spPr>
          <a:xfrm>
            <a:off x="7059168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DTO + Mapper + Repository</a:t>
            </a:r>
            <a:endParaRPr lang="en-US" sz="2000" dirty="0"/>
          </a:p>
        </p:txBody>
      </p:sp>
      <p:sp>
        <p:nvSpPr>
          <p:cNvPr id="25" name="Pattern class 4"/>
          <p:cNvSpPr txBox="1"/>
          <p:nvPr/>
        </p:nvSpPr>
        <p:spPr>
          <a:xfrm>
            <a:off x="6464808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ToolMapper, ToolRepository</a:t>
            </a:r>
            <a:endParaRPr lang="en-US" sz="1600" dirty="0"/>
          </a:p>
        </p:txBody>
      </p:sp>
      <p:sp>
        <p:nvSpPr>
          <p:cNvPr id="26" name="Pattern desc 4"/>
          <p:cNvSpPr txBox="1"/>
          <p:nvPr/>
        </p:nvSpPr>
        <p:spPr>
          <a:xfrm>
            <a:off x="6464808" y="5166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แยก Entity ออกจาก API และซ่อนการเข้าถึงข้อมูลไว้หลัง interface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Class Diagram: State และ Strategy</a:t>
            </a:r>
            <a:endParaRPr lang="en-US" sz="3600" dirty="0"/>
          </a:p>
        </p:txBody>
      </p:sp>
      <p:sp>
        <p:nvSpPr>
          <p:cNvPr id="3" name="Machine box"/>
          <p:cNvSpPr/>
          <p:nvPr/>
        </p:nvSpPr>
        <p:spPr>
          <a:xfrm>
            <a:off x="640080" y="1463040"/>
            <a:ext cx="2651760" cy="1234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Machine header"/>
          <p:cNvSpPr/>
          <p:nvPr/>
        </p:nvSpPr>
        <p:spPr>
          <a:xfrm>
            <a:off x="640080" y="1463040"/>
            <a:ext cx="265176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Machine title"/>
          <p:cNvSpPr txBox="1"/>
          <p:nvPr/>
        </p:nvSpPr>
        <p:spPr>
          <a:xfrm>
            <a:off x="64008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PublishingStateMachine</a:t>
            </a:r>
            <a:endParaRPr lang="en-US" sz="1200" dirty="0"/>
          </a:p>
        </p:txBody>
      </p:sp>
      <p:sp>
        <p:nvSpPr>
          <p:cNvPr id="6" name="Machine body"/>
          <p:cNvSpPr txBox="1"/>
          <p:nvPr/>
        </p:nvSpPr>
        <p:spPr>
          <a:xfrm>
            <a:off x="731520" y="1865376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-states: Map&lt;ToolStatus, PublishingState&gt;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+transition(current, action)</a:t>
            </a:r>
            <a:endParaRPr lang="en-US" sz="1200" dirty="0"/>
          </a:p>
        </p:txBody>
      </p:sp>
      <p:sp>
        <p:nvSpPr>
          <p:cNvPr id="7" name="PublishingState box"/>
          <p:cNvSpPr/>
          <p:nvPr/>
        </p:nvSpPr>
        <p:spPr>
          <a:xfrm>
            <a:off x="3657600" y="1463040"/>
            <a:ext cx="2743200" cy="1234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PublishingState header"/>
          <p:cNvSpPr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PublishingState title"/>
          <p:cNvSpPr txBox="1"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«interface»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PublishingState</a:t>
            </a:r>
            <a:endParaRPr lang="en-US" sz="1200" dirty="0"/>
          </a:p>
        </p:txBody>
      </p:sp>
      <p:sp>
        <p:nvSpPr>
          <p:cNvPr id="10" name="PublishingState body"/>
          <p:cNvSpPr txBox="1"/>
          <p:nvPr/>
        </p:nvSpPr>
        <p:spPr>
          <a:xfrm>
            <a:off x="3749040" y="197510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+status(): ToolStatus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+transition(action): ToolStatus</a:t>
            </a:r>
            <a:endParaRPr lang="en-US" sz="1200" dirty="0"/>
          </a:p>
        </p:txBody>
      </p:sp>
      <p:sp>
        <p:nvSpPr>
          <p:cNvPr id="11" name="Machine association"/>
          <p:cNvSpPr/>
          <p:nvPr/>
        </p:nvSpPr>
        <p:spPr>
          <a:xfrm>
            <a:off x="3291840" y="2075688"/>
            <a:ext cx="3657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arrow"/>
          </a:ln>
        </p:spPr>
      </p:sp>
      <p:sp>
        <p:nvSpPr>
          <p:cNvPr id="12" name="State inheritance triangle"/>
          <p:cNvSpPr/>
          <p:nvPr/>
        </p:nvSpPr>
        <p:spPr>
          <a:xfrm>
            <a:off x="3749040" y="2697480"/>
            <a:ext cx="201168" cy="182880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Flow label"/>
          <p:cNvSpPr txBox="1"/>
          <p:nvPr/>
        </p:nvSpPr>
        <p:spPr>
          <a:xfrm>
            <a:off x="640080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วงจรสถานะของ Tool</a:t>
            </a:r>
            <a:endParaRPr lang="en-US" sz="1100" dirty="0"/>
          </a:p>
        </p:txBody>
      </p:sp>
      <p:sp>
        <p:nvSpPr>
          <p:cNvPr id="14" name="connector"/>
          <p:cNvSpPr/>
          <p:nvPr/>
        </p:nvSpPr>
        <p:spPr>
          <a:xfrm>
            <a:off x="3849624" y="3360420"/>
            <a:ext cx="26517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DraftState box"/>
          <p:cNvSpPr/>
          <p:nvPr/>
        </p:nvSpPr>
        <p:spPr>
          <a:xfrm>
            <a:off x="4114800" y="3108960"/>
            <a:ext cx="2286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DraftState header"/>
          <p:cNvSpPr/>
          <p:nvPr/>
        </p:nvSpPr>
        <p:spPr>
          <a:xfrm>
            <a:off x="4114800" y="3108960"/>
            <a:ext cx="228600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DraftState title"/>
          <p:cNvSpPr txBox="1"/>
          <p:nvPr/>
        </p:nvSpPr>
        <p:spPr>
          <a:xfrm>
            <a:off x="411480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DraftState</a:t>
            </a:r>
            <a:endParaRPr lang="en-US" sz="1200" dirty="0"/>
          </a:p>
        </p:txBody>
      </p:sp>
      <p:sp>
        <p:nvSpPr>
          <p:cNvPr id="18" name="Flow chip 1"/>
          <p:cNvSpPr/>
          <p:nvPr/>
        </p:nvSpPr>
        <p:spPr>
          <a:xfrm>
            <a:off x="640080" y="310896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19" name="Flow text 1"/>
          <p:cNvSpPr txBox="1"/>
          <p:nvPr/>
        </p:nvSpPr>
        <p:spPr>
          <a:xfrm>
            <a:off x="749808" y="3108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DRAFT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submit → PENDING</a:t>
            </a:r>
            <a:endParaRPr lang="en-US" sz="1400" dirty="0"/>
          </a:p>
        </p:txBody>
      </p:sp>
      <p:sp>
        <p:nvSpPr>
          <p:cNvPr id="20" name="connector"/>
          <p:cNvSpPr/>
          <p:nvPr/>
        </p:nvSpPr>
        <p:spPr>
          <a:xfrm>
            <a:off x="3849624" y="4000500"/>
            <a:ext cx="26517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PendingState box"/>
          <p:cNvSpPr/>
          <p:nvPr/>
        </p:nvSpPr>
        <p:spPr>
          <a:xfrm>
            <a:off x="4114800" y="3749040"/>
            <a:ext cx="2286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PendingState header"/>
          <p:cNvSpPr/>
          <p:nvPr/>
        </p:nvSpPr>
        <p:spPr>
          <a:xfrm>
            <a:off x="4114800" y="3749040"/>
            <a:ext cx="228600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PendingState title"/>
          <p:cNvSpPr txBox="1"/>
          <p:nvPr/>
        </p:nvSpPr>
        <p:spPr>
          <a:xfrm>
            <a:off x="411480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PendingState</a:t>
            </a:r>
            <a:endParaRPr lang="en-US" sz="1200" dirty="0"/>
          </a:p>
        </p:txBody>
      </p:sp>
      <p:sp>
        <p:nvSpPr>
          <p:cNvPr id="24" name="Flow chip 2"/>
          <p:cNvSpPr/>
          <p:nvPr/>
        </p:nvSpPr>
        <p:spPr>
          <a:xfrm>
            <a:off x="640080" y="374904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5" name="Flow text 2"/>
          <p:cNvSpPr txBox="1"/>
          <p:nvPr/>
        </p:nvSpPr>
        <p:spPr>
          <a:xfrm>
            <a:off x="749808" y="3749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PENDING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approve/reject → PUBLISHED/DRAFT</a:t>
            </a:r>
            <a:endParaRPr lang="en-US" sz="1400" dirty="0"/>
          </a:p>
        </p:txBody>
      </p:sp>
      <p:sp>
        <p:nvSpPr>
          <p:cNvPr id="26" name="connector"/>
          <p:cNvSpPr/>
          <p:nvPr/>
        </p:nvSpPr>
        <p:spPr>
          <a:xfrm>
            <a:off x="3849624" y="4640580"/>
            <a:ext cx="26517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7" name="PublishedState box"/>
          <p:cNvSpPr/>
          <p:nvPr/>
        </p:nvSpPr>
        <p:spPr>
          <a:xfrm>
            <a:off x="4114800" y="4389120"/>
            <a:ext cx="2286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PublishedState header"/>
          <p:cNvSpPr/>
          <p:nvPr/>
        </p:nvSpPr>
        <p:spPr>
          <a:xfrm>
            <a:off x="4114800" y="4389120"/>
            <a:ext cx="228600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PublishedState title"/>
          <p:cNvSpPr txBox="1"/>
          <p:nvPr/>
        </p:nvSpPr>
        <p:spPr>
          <a:xfrm>
            <a:off x="411480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PublishedState</a:t>
            </a:r>
            <a:endParaRPr lang="en-US" sz="1200" dirty="0"/>
          </a:p>
        </p:txBody>
      </p:sp>
      <p:sp>
        <p:nvSpPr>
          <p:cNvPr id="30" name="Flow chip 3"/>
          <p:cNvSpPr/>
          <p:nvPr/>
        </p:nvSpPr>
        <p:spPr>
          <a:xfrm>
            <a:off x="640080" y="438912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31" name="Flow text 3"/>
          <p:cNvSpPr txBox="1"/>
          <p:nvPr/>
        </p:nvSpPr>
        <p:spPr>
          <a:xfrm>
            <a:off x="749808" y="4389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PUBLISHED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deprecate → DEPRECATED</a:t>
            </a:r>
            <a:endParaRPr lang="en-US" sz="1400" dirty="0"/>
          </a:p>
        </p:txBody>
      </p:sp>
      <p:sp>
        <p:nvSpPr>
          <p:cNvPr id="32" name="connector"/>
          <p:cNvSpPr/>
          <p:nvPr/>
        </p:nvSpPr>
        <p:spPr>
          <a:xfrm>
            <a:off x="3849624" y="5280660"/>
            <a:ext cx="26517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3" name="DeprecatedState box"/>
          <p:cNvSpPr/>
          <p:nvPr/>
        </p:nvSpPr>
        <p:spPr>
          <a:xfrm>
            <a:off x="4114800" y="5029200"/>
            <a:ext cx="2286000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DeprecatedState header"/>
          <p:cNvSpPr/>
          <p:nvPr/>
        </p:nvSpPr>
        <p:spPr>
          <a:xfrm>
            <a:off x="4114800" y="5029200"/>
            <a:ext cx="228600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DeprecatedState title"/>
          <p:cNvSpPr txBox="1"/>
          <p:nvPr/>
        </p:nvSpPr>
        <p:spPr>
          <a:xfrm>
            <a:off x="4114800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DeprecatedState</a:t>
            </a:r>
            <a:endParaRPr lang="en-US" sz="1200" dirty="0"/>
          </a:p>
        </p:txBody>
      </p:sp>
      <p:sp>
        <p:nvSpPr>
          <p:cNvPr id="36" name="Flow chip 4"/>
          <p:cNvSpPr/>
          <p:nvPr/>
        </p:nvSpPr>
        <p:spPr>
          <a:xfrm>
            <a:off x="640080" y="5029200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37" name="Flow text 4"/>
          <p:cNvSpPr txBox="1"/>
          <p:nvPr/>
        </p:nvSpPr>
        <p:spPr>
          <a:xfrm>
            <a:off x="749808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DEPRECATED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restore → DRAFT</a:t>
            </a:r>
            <a:endParaRPr lang="en-US" sz="1400" dirty="0"/>
          </a:p>
        </p:txBody>
      </p:sp>
      <p:sp>
        <p:nvSpPr>
          <p:cNvPr id="38" name="connector"/>
          <p:cNvSpPr/>
          <p:nvPr/>
        </p:nvSpPr>
        <p:spPr>
          <a:xfrm>
            <a:off x="3849624" y="2880360"/>
            <a:ext cx="0" cy="240030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9" name="ToolSortStrategy box"/>
          <p:cNvSpPr/>
          <p:nvPr/>
        </p:nvSpPr>
        <p:spPr>
          <a:xfrm>
            <a:off x="6949440" y="1463040"/>
            <a:ext cx="4599432" cy="1234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0" name="ToolSortStrategy header"/>
          <p:cNvSpPr/>
          <p:nvPr/>
        </p:nvSpPr>
        <p:spPr>
          <a:xfrm>
            <a:off x="6949440" y="1463040"/>
            <a:ext cx="4599432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1" name="ToolSortStrategy title"/>
          <p:cNvSpPr txBox="1"/>
          <p:nvPr/>
        </p:nvSpPr>
        <p:spPr>
          <a:xfrm>
            <a:off x="6949440" y="146304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«interface»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ToolSortStrategy</a:t>
            </a:r>
            <a:endParaRPr lang="en-US" sz="1200" dirty="0"/>
          </a:p>
        </p:txBody>
      </p:sp>
      <p:sp>
        <p:nvSpPr>
          <p:cNvPr id="42" name="ToolSortStrategy body"/>
          <p:cNvSpPr txBox="1"/>
          <p:nvPr/>
        </p:nvSpPr>
        <p:spPr>
          <a:xfrm>
            <a:off x="7040880" y="1975104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+option(): ToolSortOption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+toSort(): Sort</a:t>
            </a:r>
            <a:endParaRPr lang="en-US" sz="1200" dirty="0"/>
          </a:p>
        </p:txBody>
      </p:sp>
      <p:sp>
        <p:nvSpPr>
          <p:cNvPr id="43" name="Strategy inheritance triangle"/>
          <p:cNvSpPr/>
          <p:nvPr/>
        </p:nvSpPr>
        <p:spPr>
          <a:xfrm>
            <a:off x="7132320" y="2697480"/>
            <a:ext cx="201168" cy="182880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4" name="connector"/>
          <p:cNvSpPr/>
          <p:nvPr/>
        </p:nvSpPr>
        <p:spPr>
          <a:xfrm>
            <a:off x="7232904" y="3360420"/>
            <a:ext cx="265176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45" name="NewestToolSortStrategy box"/>
          <p:cNvSpPr/>
          <p:nvPr/>
        </p:nvSpPr>
        <p:spPr>
          <a:xfrm>
            <a:off x="7498080" y="3108960"/>
            <a:ext cx="4050792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46" name="NewestToolSortStrategy header"/>
          <p:cNvSpPr/>
          <p:nvPr/>
        </p:nvSpPr>
        <p:spPr>
          <a:xfrm>
            <a:off x="7498080" y="3108960"/>
            <a:ext cx="4050792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7" name="NewestToolSortStrategy title"/>
          <p:cNvSpPr txBox="1"/>
          <p:nvPr/>
        </p:nvSpPr>
        <p:spPr>
          <a:xfrm>
            <a:off x="7498080" y="3108960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NewestToolSortStrategy</a:t>
            </a:r>
            <a:endParaRPr lang="en-US" sz="1200" dirty="0"/>
          </a:p>
        </p:txBody>
      </p:sp>
      <p:sp>
        <p:nvSpPr>
          <p:cNvPr id="48" name="connector"/>
          <p:cNvSpPr/>
          <p:nvPr/>
        </p:nvSpPr>
        <p:spPr>
          <a:xfrm>
            <a:off x="7232904" y="4000500"/>
            <a:ext cx="265176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49" name="PopularityToolSortStrategy box"/>
          <p:cNvSpPr/>
          <p:nvPr/>
        </p:nvSpPr>
        <p:spPr>
          <a:xfrm>
            <a:off x="7498080" y="3749040"/>
            <a:ext cx="4050792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0" name="PopularityToolSortStrategy header"/>
          <p:cNvSpPr/>
          <p:nvPr/>
        </p:nvSpPr>
        <p:spPr>
          <a:xfrm>
            <a:off x="7498080" y="3749040"/>
            <a:ext cx="4050792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1" name="PopularityToolSortStrategy title"/>
          <p:cNvSpPr txBox="1"/>
          <p:nvPr/>
        </p:nvSpPr>
        <p:spPr>
          <a:xfrm>
            <a:off x="7498080" y="3749040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PopularityToolSortStrategy</a:t>
            </a:r>
            <a:endParaRPr lang="en-US" sz="1200" dirty="0"/>
          </a:p>
        </p:txBody>
      </p:sp>
      <p:sp>
        <p:nvSpPr>
          <p:cNvPr id="52" name="connector"/>
          <p:cNvSpPr/>
          <p:nvPr/>
        </p:nvSpPr>
        <p:spPr>
          <a:xfrm>
            <a:off x="7232904" y="4640580"/>
            <a:ext cx="265176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53" name="RatingToolSortStrategy box"/>
          <p:cNvSpPr/>
          <p:nvPr/>
        </p:nvSpPr>
        <p:spPr>
          <a:xfrm>
            <a:off x="7498080" y="4389120"/>
            <a:ext cx="4050792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4" name="RatingToolSortStrategy header"/>
          <p:cNvSpPr/>
          <p:nvPr/>
        </p:nvSpPr>
        <p:spPr>
          <a:xfrm>
            <a:off x="7498080" y="4389120"/>
            <a:ext cx="4050792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5" name="RatingToolSortStrategy title"/>
          <p:cNvSpPr txBox="1"/>
          <p:nvPr/>
        </p:nvSpPr>
        <p:spPr>
          <a:xfrm>
            <a:off x="7498080" y="4389120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RatingToolSortStrategy</a:t>
            </a:r>
            <a:endParaRPr lang="en-US" sz="1200" dirty="0"/>
          </a:p>
        </p:txBody>
      </p:sp>
      <p:sp>
        <p:nvSpPr>
          <p:cNvPr id="56" name="connector"/>
          <p:cNvSpPr/>
          <p:nvPr/>
        </p:nvSpPr>
        <p:spPr>
          <a:xfrm>
            <a:off x="7232904" y="5280660"/>
            <a:ext cx="265176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57" name="RelevanceToolSortStrategy box"/>
          <p:cNvSpPr/>
          <p:nvPr/>
        </p:nvSpPr>
        <p:spPr>
          <a:xfrm>
            <a:off x="7498080" y="5029200"/>
            <a:ext cx="4050792" cy="502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8" name="RelevanceToolSortStrategy header"/>
          <p:cNvSpPr/>
          <p:nvPr/>
        </p:nvSpPr>
        <p:spPr>
          <a:xfrm>
            <a:off x="7498080" y="5029200"/>
            <a:ext cx="4050792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9" name="RelevanceToolSortStrategy title"/>
          <p:cNvSpPr txBox="1"/>
          <p:nvPr/>
        </p:nvSpPr>
        <p:spPr>
          <a:xfrm>
            <a:off x="7498080" y="5029200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RelevanceToolSortStrategy</a:t>
            </a:r>
            <a:endParaRPr lang="en-US" sz="1200" dirty="0"/>
          </a:p>
        </p:txBody>
      </p:sp>
      <p:sp>
        <p:nvSpPr>
          <p:cNvPr id="60" name="connector"/>
          <p:cNvSpPr/>
          <p:nvPr/>
        </p:nvSpPr>
        <p:spPr>
          <a:xfrm>
            <a:off x="7232904" y="2880360"/>
            <a:ext cx="0" cy="240030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61" name="State caption"/>
          <p:cNvSpPr txBox="1"/>
          <p:nvPr/>
        </p:nvSpPr>
        <p:spPr>
          <a:xfrm>
            <a:off x="640080" y="57607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ตรรกะการเปลี่ยนสถานะอยู่ที่เดียว คลาสอื่นเรียกผ่าน PublishingStateMachine</a:t>
            </a:r>
            <a:endParaRPr lang="en-US" sz="1400" dirty="0"/>
          </a:p>
        </p:txBody>
      </p:sp>
      <p:sp>
        <p:nvSpPr>
          <p:cNvPr id="62" name="Strategy caption"/>
          <p:cNvSpPr txBox="1"/>
          <p:nvPr/>
        </p:nvSpPr>
        <p:spPr>
          <a:xfrm>
            <a:off x="6949440" y="576072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ToolSearchServiceImpl เลือก Strategy ตาม ToolSortOption ที่ผู้ใช้ส่งมา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ER Diagram</a:t>
            </a:r>
            <a:endParaRPr lang="en-US" sz="3600" dirty="0"/>
          </a:p>
        </p:txBody>
      </p:sp>
      <p:sp>
        <p:nvSpPr>
          <p:cNvPr id="3" name="users box"/>
          <p:cNvSpPr/>
          <p:nvPr/>
        </p:nvSpPr>
        <p:spPr>
          <a:xfrm>
            <a:off x="640080" y="1417320"/>
            <a:ext cx="2148840" cy="99669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" name="users header"/>
          <p:cNvSpPr/>
          <p:nvPr/>
        </p:nvSpPr>
        <p:spPr>
          <a:xfrm>
            <a:off x="640080" y="1417320"/>
            <a:ext cx="2148840" cy="31089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" name="users title"/>
          <p:cNvSpPr txBox="1"/>
          <p:nvPr/>
        </p:nvSpPr>
        <p:spPr>
          <a:xfrm>
            <a:off x="640080" y="1417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</a:t>
            </a:r>
            <a:endParaRPr lang="en-US" sz="12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1783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 (unique)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role, enabled</a:t>
            </a:r>
            <a:endParaRPr lang="en-US" sz="1200" dirty="0"/>
          </a:p>
        </p:txBody>
      </p:sp>
      <p:sp>
        <p:nvSpPr>
          <p:cNvPr id="7" name="user_profiles box"/>
          <p:cNvSpPr/>
          <p:nvPr/>
        </p:nvSpPr>
        <p:spPr>
          <a:xfrm>
            <a:off x="640080" y="4526280"/>
            <a:ext cx="2148840" cy="99669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8" name="user_profiles header"/>
          <p:cNvSpPr/>
          <p:nvPr/>
        </p:nvSpPr>
        <p:spPr>
          <a:xfrm>
            <a:off x="640080" y="4526280"/>
            <a:ext cx="2148840" cy="31089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user_profiles title"/>
          <p:cNvSpPr txBox="1"/>
          <p:nvPr/>
        </p:nvSpPr>
        <p:spPr>
          <a:xfrm>
            <a:off x="640080" y="4526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user_profiles</a:t>
            </a:r>
            <a:endParaRPr lang="en-US" sz="1200" dirty="0"/>
          </a:p>
        </p:txBody>
      </p:sp>
      <p:sp>
        <p:nvSpPr>
          <p:cNvPr id="10" name="user_profiles body"/>
          <p:cNvSpPr txBox="1"/>
          <p:nvPr/>
        </p:nvSpPr>
        <p:spPr>
          <a:xfrm>
            <a:off x="731520" y="4892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FK user_id (unique)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display_name, bio</a:t>
            </a:r>
            <a:endParaRPr lang="en-US" sz="1200" dirty="0"/>
          </a:p>
        </p:txBody>
      </p:sp>
      <p:sp>
        <p:nvSpPr>
          <p:cNvPr id="11" name="categories box"/>
          <p:cNvSpPr/>
          <p:nvPr/>
        </p:nvSpPr>
        <p:spPr>
          <a:xfrm>
            <a:off x="3246120" y="1417320"/>
            <a:ext cx="2148840" cy="99669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categories header"/>
          <p:cNvSpPr/>
          <p:nvPr/>
        </p:nvSpPr>
        <p:spPr>
          <a:xfrm>
            <a:off x="3246120" y="1417320"/>
            <a:ext cx="2148840" cy="3108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categories title"/>
          <p:cNvSpPr txBox="1"/>
          <p:nvPr/>
        </p:nvSpPr>
        <p:spPr>
          <a:xfrm>
            <a:off x="3246120" y="1417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14" name="categories body"/>
          <p:cNvSpPr txBox="1"/>
          <p:nvPr/>
        </p:nvSpPr>
        <p:spPr>
          <a:xfrm>
            <a:off x="3337560" y="1783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name, slug (unique)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15" name="tools box"/>
          <p:cNvSpPr/>
          <p:nvPr/>
        </p:nvSpPr>
        <p:spPr>
          <a:xfrm>
            <a:off x="3246120" y="2834640"/>
            <a:ext cx="2148840" cy="11887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ools header"/>
          <p:cNvSpPr/>
          <p:nvPr/>
        </p:nvSpPr>
        <p:spPr>
          <a:xfrm>
            <a:off x="3246120" y="2834640"/>
            <a:ext cx="21488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ools title"/>
          <p:cNvSpPr txBox="1"/>
          <p:nvPr/>
        </p:nvSpPr>
        <p:spPr>
          <a:xfrm>
            <a:off x="3246120" y="2834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tools</a:t>
            </a:r>
            <a:endParaRPr lang="en-US" sz="1200" dirty="0"/>
          </a:p>
        </p:txBody>
      </p:sp>
      <p:sp>
        <p:nvSpPr>
          <p:cNvPr id="18" name="tools body"/>
          <p:cNvSpPr txBox="1"/>
          <p:nvPr/>
        </p:nvSpPr>
        <p:spPr>
          <a:xfrm>
            <a:off x="3337560" y="320040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FK category_id, owner_id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name, slug (unique)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status, review_revision</a:t>
            </a:r>
            <a:endParaRPr lang="en-US" sz="1200" dirty="0"/>
          </a:p>
        </p:txBody>
      </p:sp>
      <p:sp>
        <p:nvSpPr>
          <p:cNvPr id="19" name="reviews box"/>
          <p:cNvSpPr/>
          <p:nvPr/>
        </p:nvSpPr>
        <p:spPr>
          <a:xfrm>
            <a:off x="3246120" y="4526280"/>
            <a:ext cx="2148840" cy="11887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reviews header"/>
          <p:cNvSpPr/>
          <p:nvPr/>
        </p:nvSpPr>
        <p:spPr>
          <a:xfrm>
            <a:off x="3246120" y="4526280"/>
            <a:ext cx="2148840" cy="3108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reviews title"/>
          <p:cNvSpPr txBox="1"/>
          <p:nvPr/>
        </p:nvSpPr>
        <p:spPr>
          <a:xfrm>
            <a:off x="3246120" y="4526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reviews</a:t>
            </a:r>
            <a:endParaRPr lang="en-US" sz="1200" dirty="0"/>
          </a:p>
        </p:txBody>
      </p:sp>
      <p:sp>
        <p:nvSpPr>
          <p:cNvPr id="22" name="reviews body"/>
          <p:cNvSpPr txBox="1"/>
          <p:nvPr/>
        </p:nvSpPr>
        <p:spPr>
          <a:xfrm>
            <a:off x="3337560" y="48920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FK user_id, tool_id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rating (1-5), comment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(user_id, tool_id)</a:t>
            </a:r>
            <a:endParaRPr lang="en-US" sz="1200" dirty="0"/>
          </a:p>
        </p:txBody>
      </p:sp>
      <p:sp>
        <p:nvSpPr>
          <p:cNvPr id="23" name="tags box"/>
          <p:cNvSpPr/>
          <p:nvPr/>
        </p:nvSpPr>
        <p:spPr>
          <a:xfrm>
            <a:off x="5852160" y="1417320"/>
            <a:ext cx="2148840" cy="804672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4" name="tags header"/>
          <p:cNvSpPr/>
          <p:nvPr/>
        </p:nvSpPr>
        <p:spPr>
          <a:xfrm>
            <a:off x="5852160" y="1417320"/>
            <a:ext cx="2148840" cy="3108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5" name="tags title"/>
          <p:cNvSpPr txBox="1"/>
          <p:nvPr/>
        </p:nvSpPr>
        <p:spPr>
          <a:xfrm>
            <a:off x="5852160" y="14173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tags</a:t>
            </a:r>
            <a:endParaRPr lang="en-US" sz="1200" dirty="0"/>
          </a:p>
        </p:txBody>
      </p:sp>
      <p:sp>
        <p:nvSpPr>
          <p:cNvPr id="26" name="tags body"/>
          <p:cNvSpPr txBox="1"/>
          <p:nvPr/>
        </p:nvSpPr>
        <p:spPr>
          <a:xfrm>
            <a:off x="5943600" y="17830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name, slug (unique)</a:t>
            </a:r>
            <a:endParaRPr lang="en-US" sz="1200" dirty="0"/>
          </a:p>
        </p:txBody>
      </p:sp>
      <p:sp>
        <p:nvSpPr>
          <p:cNvPr id="27" name="tool_tags box"/>
          <p:cNvSpPr/>
          <p:nvPr/>
        </p:nvSpPr>
        <p:spPr>
          <a:xfrm>
            <a:off x="5852160" y="2834640"/>
            <a:ext cx="2148840" cy="804672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8" name="tool_tags header"/>
          <p:cNvSpPr/>
          <p:nvPr/>
        </p:nvSpPr>
        <p:spPr>
          <a:xfrm>
            <a:off x="5852160" y="2834640"/>
            <a:ext cx="2148840" cy="3108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9" name="tool_tags title"/>
          <p:cNvSpPr txBox="1"/>
          <p:nvPr/>
        </p:nvSpPr>
        <p:spPr>
          <a:xfrm>
            <a:off x="5852160" y="2834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tool_tags</a:t>
            </a:r>
            <a:endParaRPr lang="en-US" sz="1200" dirty="0"/>
          </a:p>
        </p:txBody>
      </p:sp>
      <p:sp>
        <p:nvSpPr>
          <p:cNvPr id="30" name="tool_tags body"/>
          <p:cNvSpPr txBox="1"/>
          <p:nvPr/>
        </p:nvSpPr>
        <p:spPr>
          <a:xfrm>
            <a:off x="5943600" y="32004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PK/FK tool_id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PK/FK tag_id</a:t>
            </a:r>
            <a:endParaRPr lang="en-US" sz="1200" dirty="0"/>
          </a:p>
        </p:txBody>
      </p:sp>
      <p:sp>
        <p:nvSpPr>
          <p:cNvPr id="31" name="tool_versions box"/>
          <p:cNvSpPr/>
          <p:nvPr/>
        </p:nvSpPr>
        <p:spPr>
          <a:xfrm>
            <a:off x="5852160" y="4526280"/>
            <a:ext cx="2148840" cy="996696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ool_versions header"/>
          <p:cNvSpPr/>
          <p:nvPr/>
        </p:nvSpPr>
        <p:spPr>
          <a:xfrm>
            <a:off x="5852160" y="4526280"/>
            <a:ext cx="2148840" cy="3108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ool_versions title"/>
          <p:cNvSpPr txBox="1"/>
          <p:nvPr/>
        </p:nvSpPr>
        <p:spPr>
          <a:xfrm>
            <a:off x="5852160" y="4526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tool_versions</a:t>
            </a:r>
            <a:endParaRPr lang="en-US" sz="1200" dirty="0"/>
          </a:p>
        </p:txBody>
      </p:sp>
      <p:sp>
        <p:nvSpPr>
          <p:cNvPr id="34" name="tool_versions body"/>
          <p:cNvSpPr txBox="1"/>
          <p:nvPr/>
        </p:nvSpPr>
        <p:spPr>
          <a:xfrm>
            <a:off x="5943600" y="4892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PK id, FK tool_id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version, release_notes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(tool_id, version)</a:t>
            </a:r>
            <a:endParaRPr lang="en-US" sz="1200" dirty="0"/>
          </a:p>
        </p:txBody>
      </p:sp>
      <p:sp>
        <p:nvSpPr>
          <p:cNvPr id="35" name="connector"/>
          <p:cNvSpPr/>
          <p:nvPr/>
        </p:nvSpPr>
        <p:spPr>
          <a:xfrm>
            <a:off x="1714500" y="2414016"/>
            <a:ext cx="0" cy="211226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6" name="Cardinality 1"/>
          <p:cNvSpPr txBox="1"/>
          <p:nvPr/>
        </p:nvSpPr>
        <p:spPr>
          <a:xfrm>
            <a:off x="178308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Cardinality 1"/>
          <p:cNvSpPr txBox="1"/>
          <p:nvPr/>
        </p:nvSpPr>
        <p:spPr>
          <a:xfrm>
            <a:off x="1783080" y="4279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38" name="connector"/>
          <p:cNvSpPr/>
          <p:nvPr/>
        </p:nvSpPr>
        <p:spPr>
          <a:xfrm>
            <a:off x="2788920" y="1691640"/>
            <a:ext cx="3200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9" name="connector"/>
          <p:cNvSpPr/>
          <p:nvPr/>
        </p:nvSpPr>
        <p:spPr>
          <a:xfrm>
            <a:off x="3108960" y="1691640"/>
            <a:ext cx="0" cy="15544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0" name="connector"/>
          <p:cNvSpPr/>
          <p:nvPr/>
        </p:nvSpPr>
        <p:spPr>
          <a:xfrm>
            <a:off x="3108960" y="3246120"/>
            <a:ext cx="1371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1" name="Cardinality 1"/>
          <p:cNvSpPr txBox="1"/>
          <p:nvPr/>
        </p:nvSpPr>
        <p:spPr>
          <a:xfrm>
            <a:off x="2816352" y="1463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42" name="Cardinality N"/>
          <p:cNvSpPr txBox="1"/>
          <p:nvPr/>
        </p:nvSpPr>
        <p:spPr>
          <a:xfrm>
            <a:off x="3017520" y="29992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43" name="connector"/>
          <p:cNvSpPr/>
          <p:nvPr/>
        </p:nvSpPr>
        <p:spPr>
          <a:xfrm>
            <a:off x="2788920" y="2011680"/>
            <a:ext cx="1371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4" name="connector"/>
          <p:cNvSpPr/>
          <p:nvPr/>
        </p:nvSpPr>
        <p:spPr>
          <a:xfrm>
            <a:off x="2926080" y="2011680"/>
            <a:ext cx="0" cy="30175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5" name="connector"/>
          <p:cNvSpPr/>
          <p:nvPr/>
        </p:nvSpPr>
        <p:spPr>
          <a:xfrm>
            <a:off x="2926080" y="5029200"/>
            <a:ext cx="3200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6" name="Cardinality 1"/>
          <p:cNvSpPr txBox="1"/>
          <p:nvPr/>
        </p:nvSpPr>
        <p:spPr>
          <a:xfrm>
            <a:off x="2816352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Cardinality N"/>
          <p:cNvSpPr txBox="1"/>
          <p:nvPr/>
        </p:nvSpPr>
        <p:spPr>
          <a:xfrm>
            <a:off x="2999232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48" name="connector"/>
          <p:cNvSpPr/>
          <p:nvPr/>
        </p:nvSpPr>
        <p:spPr>
          <a:xfrm>
            <a:off x="4320540" y="2414016"/>
            <a:ext cx="0" cy="42062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9" name="Cardinality 1"/>
          <p:cNvSpPr txBox="1"/>
          <p:nvPr/>
        </p:nvSpPr>
        <p:spPr>
          <a:xfrm>
            <a:off x="4389120" y="2432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50" name="Cardinality N"/>
          <p:cNvSpPr txBox="1"/>
          <p:nvPr/>
        </p:nvSpPr>
        <p:spPr>
          <a:xfrm>
            <a:off x="4389120" y="26243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51" name="connector"/>
          <p:cNvSpPr/>
          <p:nvPr/>
        </p:nvSpPr>
        <p:spPr>
          <a:xfrm>
            <a:off x="4320540" y="4023360"/>
            <a:ext cx="0" cy="5029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52" name="Cardinality 1"/>
          <p:cNvSpPr txBox="1"/>
          <p:nvPr/>
        </p:nvSpPr>
        <p:spPr>
          <a:xfrm>
            <a:off x="4389120" y="40416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53" name="Cardinality N"/>
          <p:cNvSpPr txBox="1"/>
          <p:nvPr/>
        </p:nvSpPr>
        <p:spPr>
          <a:xfrm>
            <a:off x="4389120" y="4315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54" name="connector"/>
          <p:cNvSpPr/>
          <p:nvPr/>
        </p:nvSpPr>
        <p:spPr>
          <a:xfrm>
            <a:off x="5394960" y="3246120"/>
            <a:ext cx="4572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55" name="Cardinality 1"/>
          <p:cNvSpPr txBox="1"/>
          <p:nvPr/>
        </p:nvSpPr>
        <p:spPr>
          <a:xfrm>
            <a:off x="5422392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56" name="Cardinality N"/>
          <p:cNvSpPr txBox="1"/>
          <p:nvPr/>
        </p:nvSpPr>
        <p:spPr>
          <a:xfrm>
            <a:off x="5577840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57" name="connector"/>
          <p:cNvSpPr/>
          <p:nvPr/>
        </p:nvSpPr>
        <p:spPr>
          <a:xfrm>
            <a:off x="6926580" y="2221992"/>
            <a:ext cx="0" cy="61264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58" name="Cardinality 1"/>
          <p:cNvSpPr txBox="1"/>
          <p:nvPr/>
        </p:nvSpPr>
        <p:spPr>
          <a:xfrm>
            <a:off x="6995160" y="22402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59" name="Cardinality N"/>
          <p:cNvSpPr txBox="1"/>
          <p:nvPr/>
        </p:nvSpPr>
        <p:spPr>
          <a:xfrm>
            <a:off x="6995160" y="2606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60" name="connector"/>
          <p:cNvSpPr/>
          <p:nvPr/>
        </p:nvSpPr>
        <p:spPr>
          <a:xfrm>
            <a:off x="5394960" y="3611880"/>
            <a:ext cx="2286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1" name="connector"/>
          <p:cNvSpPr/>
          <p:nvPr/>
        </p:nvSpPr>
        <p:spPr>
          <a:xfrm>
            <a:off x="5623560" y="3611880"/>
            <a:ext cx="0" cy="1417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2" name="connector"/>
          <p:cNvSpPr/>
          <p:nvPr/>
        </p:nvSpPr>
        <p:spPr>
          <a:xfrm>
            <a:off x="5623560" y="5029200"/>
            <a:ext cx="2286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3" name="Cardinality 1"/>
          <p:cNvSpPr txBox="1"/>
          <p:nvPr/>
        </p:nvSpPr>
        <p:spPr>
          <a:xfrm>
            <a:off x="5422392" y="3630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64" name="Cardinality N"/>
          <p:cNvSpPr txBox="1"/>
          <p:nvPr/>
        </p:nvSpPr>
        <p:spPr>
          <a:xfrm>
            <a:off x="5669280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</a:t>
            </a:r>
            <a:endParaRPr lang="en-US" sz="1100" dirty="0"/>
          </a:p>
        </p:txBody>
      </p:sp>
      <p:sp>
        <p:nvSpPr>
          <p:cNvPr id="65" name="ER source"/>
          <p:cNvSpPr txBox="1"/>
          <p:nvPr/>
        </p:nvSpPr>
        <p:spPr>
          <a:xfrm>
            <a:off x="640080" y="58978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ที่มา: doc/diagrams/er-diagram.png และ schema.sql (ตัดคอลัมน์ created_at/updated_at ออกเพื่อให้อ่านง่าย)</a:t>
            </a:r>
            <a:endParaRPr lang="en-US" sz="1200" dirty="0"/>
          </a:p>
        </p:txBody>
      </p:sp>
      <p:sp>
        <p:nvSpPr>
          <p:cNvPr id="66" name="ER stat card 1"/>
          <p:cNvSpPr/>
          <p:nvPr/>
        </p:nvSpPr>
        <p:spPr>
          <a:xfrm>
            <a:off x="8321040" y="1417320"/>
            <a:ext cx="322783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67" name="ER stat big 1"/>
          <p:cNvSpPr txBox="1"/>
          <p:nvPr/>
        </p:nvSpPr>
        <p:spPr>
          <a:xfrm>
            <a:off x="8458200" y="1508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</a:t>
            </a:r>
            <a:endParaRPr lang="en-US" sz="1800" dirty="0"/>
          </a:p>
        </p:txBody>
      </p:sp>
      <p:sp>
        <p:nvSpPr>
          <p:cNvPr id="68" name="ER stat text 1"/>
          <p:cNvSpPr txBox="1"/>
          <p:nvPr/>
        </p:nvSpPr>
        <p:spPr>
          <a:xfrm>
            <a:off x="9555480" y="14904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ตารางหลัก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ครอบคลุมผู้ใช้ เครื่องมือ แท็ก รีวิว เวอร์ชัน</a:t>
            </a:r>
            <a:endParaRPr lang="en-US" sz="1400" dirty="0"/>
          </a:p>
        </p:txBody>
      </p:sp>
      <p:sp>
        <p:nvSpPr>
          <p:cNvPr id="69" name="ER stat card 2"/>
          <p:cNvSpPr/>
          <p:nvPr/>
        </p:nvSpPr>
        <p:spPr>
          <a:xfrm>
            <a:off x="8321040" y="2514600"/>
            <a:ext cx="322783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0" name="ER stat big 2"/>
          <p:cNvSpPr txBox="1"/>
          <p:nvPr/>
        </p:nvSpPr>
        <p:spPr>
          <a:xfrm>
            <a:off x="8458200" y="2606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N:M</a:t>
            </a:r>
            <a:endParaRPr lang="en-US" sz="1800" dirty="0"/>
          </a:p>
        </p:txBody>
      </p:sp>
      <p:sp>
        <p:nvSpPr>
          <p:cNvPr id="71" name="ER stat text 2"/>
          <p:cNvSpPr txBox="1"/>
          <p:nvPr/>
        </p:nvSpPr>
        <p:spPr>
          <a:xfrm>
            <a:off x="9555480" y="258775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 กับ Tag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เชื่อมด้วย tool_tags (PK ผสม)</a:t>
            </a:r>
            <a:endParaRPr lang="en-US" sz="1400" dirty="0"/>
          </a:p>
        </p:txBody>
      </p:sp>
      <p:sp>
        <p:nvSpPr>
          <p:cNvPr id="72" name="ER stat card 3"/>
          <p:cNvSpPr/>
          <p:nvPr/>
        </p:nvSpPr>
        <p:spPr>
          <a:xfrm>
            <a:off x="8321040" y="3611880"/>
            <a:ext cx="322783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3" name="ER stat big 3"/>
          <p:cNvSpPr txBox="1"/>
          <p:nvPr/>
        </p:nvSpPr>
        <p:spPr>
          <a:xfrm>
            <a:off x="8458200" y="37033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UNIQUE</a:t>
            </a:r>
            <a:endParaRPr lang="en-US" sz="1800" dirty="0"/>
          </a:p>
        </p:txBody>
      </p:sp>
      <p:sp>
        <p:nvSpPr>
          <p:cNvPr id="74" name="ER stat text 3"/>
          <p:cNvSpPr txBox="1"/>
          <p:nvPr/>
        </p:nvSpPr>
        <p:spPr>
          <a:xfrm>
            <a:off x="9555480" y="36850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user_id + tool_id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 ผู้ใช้รีวิวได้ 1 ครั้งต่อเครื่องมือ</a:t>
            </a:r>
            <a:endParaRPr lang="en-US" sz="1400" dirty="0"/>
          </a:p>
        </p:txBody>
      </p:sp>
      <p:sp>
        <p:nvSpPr>
          <p:cNvPr id="75" name="ER stat card 4"/>
          <p:cNvSpPr/>
          <p:nvPr/>
        </p:nvSpPr>
        <p:spPr>
          <a:xfrm>
            <a:off x="8321040" y="4709160"/>
            <a:ext cx="322783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6" name="ER stat big 4"/>
          <p:cNvSpPr txBox="1"/>
          <p:nvPr/>
        </p:nvSpPr>
        <p:spPr>
          <a:xfrm>
            <a:off x="8458200" y="48006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rev.</a:t>
            </a:r>
            <a:endParaRPr lang="en-US" sz="1800" dirty="0"/>
          </a:p>
        </p:txBody>
      </p:sp>
      <p:sp>
        <p:nvSpPr>
          <p:cNvPr id="77" name="ER stat text 4"/>
          <p:cNvSpPr txBox="1"/>
          <p:nvPr/>
        </p:nvSpPr>
        <p:spPr>
          <a:xfrm>
            <a:off x="9555480" y="47823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review_revision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ตัวนับกันข้อมูลเก่าตอนอนุมัติ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</a:t>
            </a:r>
            <a:endParaRPr lang="en-US" sz="3600" dirty="0"/>
          </a:p>
        </p:txBody>
      </p:sp>
      <p:sp>
        <p:nvSpPr>
          <p:cNvPr id="3" name="Demo URL pill"/>
          <p:cNvSpPr/>
          <p:nvPr/>
        </p:nvSpPr>
        <p:spPr>
          <a:xfrm>
            <a:off x="640080" y="1371600"/>
            <a:ext cx="10908792" cy="7315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Demo URL text"/>
          <p:cNvSpPr txBox="1"/>
          <p:nvPr/>
        </p:nvSpPr>
        <p:spPr>
          <a:xfrm>
            <a:off x="640080" y="13716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Deploy URL  </a:t>
            </a:r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https://primeskill-zeta.vercel.app</a:t>
            </a:r>
            <a:endParaRPr lang="en-US" sz="1400" dirty="0"/>
          </a:p>
        </p:txBody>
      </p:sp>
      <p:sp>
        <p:nvSpPr>
          <p:cNvPr id="5" name="Case card 1"/>
          <p:cNvSpPr/>
          <p:nvPr/>
        </p:nvSpPr>
        <p:spPr>
          <a:xfrm>
            <a:off x="640080" y="2377440"/>
            <a:ext cx="352044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6" name="Case 1 circle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Case 1 label"/>
          <p:cNvSpPr txBox="1"/>
          <p:nvPr/>
        </p:nvSpPr>
        <p:spPr>
          <a:xfrm>
            <a:off x="868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Case title 1"/>
          <p:cNvSpPr txBox="1"/>
          <p:nvPr/>
        </p:nvSpPr>
        <p:spPr>
          <a:xfrm>
            <a:off x="155448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ค้นหาและกรอง</a:t>
            </a:r>
            <a:endParaRPr lang="en-US" sz="1800" dirty="0"/>
          </a:p>
        </p:txBody>
      </p:sp>
      <p:sp>
        <p:nvSpPr>
          <p:cNvPr id="9" name="Case time chip 1"/>
          <p:cNvSpPr/>
          <p:nvPr/>
        </p:nvSpPr>
        <p:spPr>
          <a:xfrm>
            <a:off x="868680" y="33832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Case time 1"/>
          <p:cNvSpPr txBox="1"/>
          <p:nvPr/>
        </p:nvSpPr>
        <p:spPr>
          <a:xfrm>
            <a:off x="868680" y="3383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นาที</a:t>
            </a:r>
            <a:endParaRPr lang="en-US" sz="1300" dirty="0"/>
          </a:p>
        </p:txBody>
      </p:sp>
      <p:sp>
        <p:nvSpPr>
          <p:cNvPr id="11" name="Case steps 1"/>
          <p:cNvSpPr txBox="1"/>
          <p:nvPr/>
        </p:nvSpPr>
        <p:spPr>
          <a:xfrm>
            <a:off x="868680" y="3931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ค้นหาด้วยคำ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กรองหมวดหมู่และแท็ก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เรียงตามคะแนน และแบ่งหน้า</a:t>
            </a:r>
            <a:endParaRPr lang="en-US" sz="1600" dirty="0"/>
          </a:p>
        </p:txBody>
      </p:sp>
      <p:sp>
        <p:nvSpPr>
          <p:cNvPr id="12" name="Case card 2"/>
          <p:cNvSpPr/>
          <p:nvPr/>
        </p:nvSpPr>
        <p:spPr>
          <a:xfrm>
            <a:off x="4334256" y="2377440"/>
            <a:ext cx="352044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13" name="Case 2 circle"/>
          <p:cNvSpPr/>
          <p:nvPr/>
        </p:nvSpPr>
        <p:spPr>
          <a:xfrm>
            <a:off x="4562856" y="26060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Case 2 label"/>
          <p:cNvSpPr txBox="1"/>
          <p:nvPr/>
        </p:nvSpPr>
        <p:spPr>
          <a:xfrm>
            <a:off x="456285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Case title 2"/>
          <p:cNvSpPr txBox="1"/>
          <p:nvPr/>
        </p:nvSpPr>
        <p:spPr>
          <a:xfrm>
            <a:off x="5248656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เผยแพร่เครื่องมือ</a:t>
            </a:r>
            <a:endParaRPr lang="en-US" sz="1800" dirty="0"/>
          </a:p>
        </p:txBody>
      </p:sp>
      <p:sp>
        <p:nvSpPr>
          <p:cNvPr id="16" name="Case time chip 2"/>
          <p:cNvSpPr/>
          <p:nvPr/>
        </p:nvSpPr>
        <p:spPr>
          <a:xfrm>
            <a:off x="4562856" y="33832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7" name="Case time 2"/>
          <p:cNvSpPr txBox="1"/>
          <p:nvPr/>
        </p:nvSpPr>
        <p:spPr>
          <a:xfrm>
            <a:off x="4562856" y="3383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1.5 นาที</a:t>
            </a:r>
            <a:endParaRPr lang="en-US" sz="1300" dirty="0"/>
          </a:p>
        </p:txBody>
      </p:sp>
      <p:sp>
        <p:nvSpPr>
          <p:cNvPr id="18" name="Case steps 2"/>
          <p:cNvSpPr txBox="1"/>
          <p:nvPr/>
        </p:nvSpPr>
        <p:spPr>
          <a:xfrm>
            <a:off x="4562856" y="3931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สร้างเครื่องมือ (DRAFT)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ใส่แท็ก แล้วส่งอนุมัติ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ADMIN อนุมัติ เป็น PUBLISHED</a:t>
            </a:r>
            <a:endParaRPr lang="en-US" sz="1600" dirty="0"/>
          </a:p>
        </p:txBody>
      </p:sp>
      <p:sp>
        <p:nvSpPr>
          <p:cNvPr id="19" name="Case card 3"/>
          <p:cNvSpPr/>
          <p:nvPr/>
        </p:nvSpPr>
        <p:spPr>
          <a:xfrm>
            <a:off x="8028432" y="2377440"/>
            <a:ext cx="352044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20" name="Case 3 circle"/>
          <p:cNvSpPr/>
          <p:nvPr/>
        </p:nvSpPr>
        <p:spPr>
          <a:xfrm>
            <a:off x="8257032" y="2606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Case 3 label"/>
          <p:cNvSpPr txBox="1"/>
          <p:nvPr/>
        </p:nvSpPr>
        <p:spPr>
          <a:xfrm>
            <a:off x="825703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Case title 3"/>
          <p:cNvSpPr txBox="1"/>
          <p:nvPr/>
        </p:nvSpPr>
        <p:spPr>
          <a:xfrm>
            <a:off x="8942832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รีวิวและคะแนน</a:t>
            </a:r>
            <a:endParaRPr lang="en-US" sz="1800" dirty="0"/>
          </a:p>
        </p:txBody>
      </p:sp>
      <p:sp>
        <p:nvSpPr>
          <p:cNvPr id="23" name="Case time chip 3"/>
          <p:cNvSpPr/>
          <p:nvPr/>
        </p:nvSpPr>
        <p:spPr>
          <a:xfrm>
            <a:off x="8257032" y="3383280"/>
            <a:ext cx="109728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Case time 3"/>
          <p:cNvSpPr txBox="1"/>
          <p:nvPr/>
        </p:nvSpPr>
        <p:spPr>
          <a:xfrm>
            <a:off x="8257032" y="3383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นาที</a:t>
            </a:r>
            <a:endParaRPr lang="en-US" sz="1300" dirty="0"/>
          </a:p>
        </p:txBody>
      </p:sp>
      <p:sp>
        <p:nvSpPr>
          <p:cNvPr id="25" name="Case steps 3"/>
          <p:cNvSpPr txBox="1"/>
          <p:nvPr/>
        </p:nvSpPr>
        <p:spPr>
          <a:xfrm>
            <a:off x="8257032" y="3931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ให้คะแนน 1-5 พร้อมคอมเมนต์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คะแนนเฉลี่ยอัปเดตทันที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ดูหน้า รีวิวของฉัน</a:t>
            </a:r>
            <a:endParaRPr lang="en-US" sz="1600" dirty="0"/>
          </a:p>
        </p:txBody>
      </p:sp>
      <p:sp>
        <p:nvSpPr>
          <p:cNvPr id="26" name="Backup strip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7" name="Backup text"/>
          <p:cNvSpPr txBox="1"/>
          <p:nvPr/>
        </p:nvSpPr>
        <p:spPr>
          <a:xfrm>
            <a:off x="868680" y="5577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เตรียมสำรอง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Seed Data, Swagger UI, Repository, วิดีโอ Demo ในแท็บแยก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Lessons Learned</a:t>
            </a:r>
            <a:endParaRPr lang="en-US" sz="3600" dirty="0"/>
          </a:p>
        </p:txBody>
      </p:sp>
      <p:sp>
        <p:nvSpPr>
          <p:cNvPr id="3" name="Problem heading"/>
          <p:cNvSpPr txBox="1"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ปัญหาที่พบ</a:t>
            </a:r>
            <a:endParaRPr lang="en-US" sz="1800" dirty="0"/>
          </a:p>
        </p:txBody>
      </p:sp>
      <p:sp>
        <p:nvSpPr>
          <p:cNvPr id="4" name="Fix heading"/>
          <p:cNvSpPr txBox="1"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แนวทางที่แก้</a:t>
            </a:r>
            <a:endParaRPr lang="en-US" sz="1800" dirty="0"/>
          </a:p>
        </p:txBody>
      </p:sp>
      <p:sp>
        <p:nvSpPr>
          <p:cNvPr id="5" name="Problem card 1"/>
          <p:cNvSpPr/>
          <p:nvPr/>
        </p:nvSpPr>
        <p:spPr>
          <a:xfrm>
            <a:off x="640080" y="1783080"/>
            <a:ext cx="5120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6" name="Problem text 1"/>
          <p:cNvSpPr txBox="1"/>
          <p:nvPr/>
        </p:nvSpPr>
        <p:spPr>
          <a:xfrm>
            <a:off x="822960" y="18745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Race condition: รีวิวกับ Deprecate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รีวิวเข้ามาหลังเครื่องมือถูกซ่อน เพราะตรวจสถานะกับเขียนรีวิวแยกกัน</a:t>
            </a:r>
            <a:endParaRPr lang="en-US" sz="1400" dirty="0"/>
          </a:p>
        </p:txBody>
      </p:sp>
      <p:sp>
        <p:nvSpPr>
          <p:cNvPr id="7" name="Arrow 1 circle"/>
          <p:cNvSpPr/>
          <p:nvPr/>
        </p:nvSpPr>
        <p:spPr>
          <a:xfrm>
            <a:off x="5943600" y="2084832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Arrow 1 label"/>
          <p:cNvSpPr txBox="1"/>
          <p:nvPr/>
        </p:nvSpPr>
        <p:spPr>
          <a:xfrm>
            <a:off x="59436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Fix card 1"/>
          <p:cNvSpPr/>
          <p:nvPr/>
        </p:nvSpPr>
        <p:spPr>
          <a:xfrm>
            <a:off x="6629400" y="1783080"/>
            <a:ext cx="49194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0" name="Fix text 1"/>
          <p:cNvSpPr txBox="1"/>
          <p:nvPr/>
        </p:nvSpPr>
        <p:spPr>
          <a:xfrm>
            <a:off x="6812280" y="18745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ล็อกแถว Tool แบบ PESSIMISTIC_WRITE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ใช้ล็อกเดียวกับ State Machine และ refresh entity ทดสอบผ่าน 169 เคส</a:t>
            </a:r>
            <a:endParaRPr lang="en-US" sz="1400" dirty="0"/>
          </a:p>
        </p:txBody>
      </p:sp>
      <p:sp>
        <p:nvSpPr>
          <p:cNvPr id="11" name="Problem card 2"/>
          <p:cNvSpPr/>
          <p:nvPr/>
        </p:nvSpPr>
        <p:spPr>
          <a:xfrm>
            <a:off x="640080" y="3063240"/>
            <a:ext cx="5120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2" name="Problem text 2"/>
          <p:cNvSpPr txBox="1"/>
          <p:nvPr/>
        </p:nvSpPr>
        <p:spPr>
          <a:xfrm>
            <a:off x="822960" y="31546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แก้แท็กชนกับ REJECT/SUBMIT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ลำดับ commit/rollback ต่างกันอาจทำให้แท็กไม่ตรงกับที่ส่งอนุมัติ</a:t>
            </a:r>
            <a:endParaRPr lang="en-US" sz="1400" dirty="0"/>
          </a:p>
        </p:txBody>
      </p:sp>
      <p:sp>
        <p:nvSpPr>
          <p:cNvPr id="13" name="Arrow 2 circle"/>
          <p:cNvSpPr/>
          <p:nvPr/>
        </p:nvSpPr>
        <p:spPr>
          <a:xfrm>
            <a:off x="5943600" y="3364992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Arrow 2 label"/>
          <p:cNvSpPr txBox="1"/>
          <p:nvPr/>
        </p:nvSpPr>
        <p:spPr>
          <a:xfrm>
            <a:off x="59436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Fix card 2"/>
          <p:cNvSpPr/>
          <p:nvPr/>
        </p:nvSpPr>
        <p:spPr>
          <a:xfrm>
            <a:off x="6629400" y="3063240"/>
            <a:ext cx="49194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6" name="Fix text 2"/>
          <p:cNvSpPr txBox="1"/>
          <p:nvPr/>
        </p:nvSpPr>
        <p:spPr>
          <a:xfrm>
            <a:off x="6812280" y="31546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review_revision + เทสต์ PostgreSQL จริง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ปฏิเสธ token เก่า และเพิ่มเทสต์ concurrent เป็น 34 executions</a:t>
            </a:r>
            <a:endParaRPr lang="en-US" sz="1400" dirty="0"/>
          </a:p>
        </p:txBody>
      </p:sp>
      <p:sp>
        <p:nvSpPr>
          <p:cNvPr id="17" name="Problem card 3"/>
          <p:cNvSpPr/>
          <p:nvPr/>
        </p:nvSpPr>
        <p:spPr>
          <a:xfrm>
            <a:off x="640080" y="4343400"/>
            <a:ext cx="5120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8" name="Problem text 3"/>
          <p:cNvSpPr txBox="1"/>
          <p:nvPr/>
        </p:nvSpPr>
        <p:spPr>
          <a:xfrm>
            <a:off x="82296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Session บน Vercel (serverless)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แต่ละ instance ไม่มี session ในหน่วยความจำร่วมกัน</a:t>
            </a:r>
            <a:endParaRPr lang="en-US" sz="1400" dirty="0"/>
          </a:p>
        </p:txBody>
      </p:sp>
      <p:sp>
        <p:nvSpPr>
          <p:cNvPr id="19" name="Arrow 3 circle"/>
          <p:cNvSpPr/>
          <p:nvPr/>
        </p:nvSpPr>
        <p:spPr>
          <a:xfrm>
            <a:off x="5943600" y="4645152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Arrow 3 label"/>
          <p:cNvSpPr txBox="1"/>
          <p:nvPr/>
        </p:nvSpPr>
        <p:spPr>
          <a:xfrm>
            <a:off x="594360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Fix card 3"/>
          <p:cNvSpPr/>
          <p:nvPr/>
        </p:nvSpPr>
        <p:spPr>
          <a:xfrm>
            <a:off x="6629400" y="4343400"/>
            <a:ext cx="49194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22" name="Fix text 3"/>
          <p:cNvSpPr txBox="1"/>
          <p:nvPr/>
        </p:nvSpPr>
        <p:spPr>
          <a:xfrm>
            <a:off x="6812280" y="4434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เก็บ Session ใน PostgreSQL (JDBC)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เปิดเฉพาะ profile vercel, cookie HttpOnly + Secure, อายุ 30 นาที</a:t>
            </a:r>
            <a:endParaRPr lang="en-US" sz="1400" dirty="0"/>
          </a:p>
        </p:txBody>
      </p:sp>
      <p:sp>
        <p:nvSpPr>
          <p:cNvPr id="23" name="Next steps strip"/>
          <p:cNvSpPr/>
          <p:nvPr/>
        </p:nvSpPr>
        <p:spPr>
          <a:xfrm>
            <a:off x="640080" y="5669280"/>
            <a:ext cx="10908792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24" name="Next steps text"/>
          <p:cNvSpPr txBox="1"/>
          <p:nvPr/>
        </p:nvSpPr>
        <p:spPr>
          <a:xfrm>
            <a:off x="868680" y="56692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ถัดไป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รวมแพตช์เข้า branch หลักแล้วรัน suite ซ้ำ · วัด line/branch coverage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eSkill Navy">
  <a:themeElements>
    <a:clrScheme name="PrimeSkill Navy">
      <a:dk1>
        <a:srgbClr val="0F1F4B"/>
      </a:dk1>
      <a:lt1>
        <a:srgbClr val="FFFFFF"/>
      </a:lt1>
      <a:dk2>
        <a:srgbClr val="1E3A8A"/>
      </a:dk2>
      <a:lt2>
        <a:srgbClr val="EEF3FD"/>
      </a:lt2>
      <a:accent1>
        <a:srgbClr val="2563EB"/>
      </a:accent1>
      <a:accent2>
        <a:srgbClr val="F59E0B"/>
      </a:accent2>
      <a:accent3>
        <a:srgbClr val="059669"/>
      </a:accent3>
      <a:accent4>
        <a:srgbClr val="7C3AED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PrimeSkill Navy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ToolHub / PrimeSkill - นำเสนอ 9 นาที</dc:title>
  <dc:subject>PptxGenJS Presentation</dc:subject>
  <dc:creator>ทีม PrimeSkill</dc:creator>
  <cp:lastModifiedBy>ทีม PrimeSkill</cp:lastModifiedBy>
  <cp:revision>1</cp:revision>
  <dcterms:created xsi:type="dcterms:W3CDTF">2026-10-10T16:48:19Z</dcterms:created>
  <dcterms:modified xsi:type="dcterms:W3CDTF">2026-10-10T16:48:19Z</dcterms:modified>
</cp:coreProperties>
</file>